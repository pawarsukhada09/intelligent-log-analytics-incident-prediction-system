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45"/>
  </p:notesMasterIdLst>
  <p:sldIdLst>
    <p:sldId id="256" r:id="rId2"/>
    <p:sldId id="257" r:id="rId3"/>
    <p:sldId id="258" r:id="rId4"/>
    <p:sldId id="259" r:id="rId5"/>
    <p:sldId id="260" r:id="rId6"/>
    <p:sldId id="261" r:id="rId7"/>
    <p:sldId id="284" r:id="rId8"/>
    <p:sldId id="262" r:id="rId9"/>
    <p:sldId id="266" r:id="rId10"/>
    <p:sldId id="276" r:id="rId11"/>
    <p:sldId id="302" r:id="rId12"/>
    <p:sldId id="303" r:id="rId13"/>
    <p:sldId id="277" r:id="rId14"/>
    <p:sldId id="278" r:id="rId15"/>
    <p:sldId id="279" r:id="rId16"/>
    <p:sldId id="280" r:id="rId17"/>
    <p:sldId id="281" r:id="rId18"/>
    <p:sldId id="282" r:id="rId19"/>
    <p:sldId id="283" r:id="rId20"/>
    <p:sldId id="267" r:id="rId21"/>
    <p:sldId id="288" r:id="rId22"/>
    <p:sldId id="289" r:id="rId23"/>
    <p:sldId id="290" r:id="rId24"/>
    <p:sldId id="291" r:id="rId25"/>
    <p:sldId id="292" r:id="rId26"/>
    <p:sldId id="293" r:id="rId27"/>
    <p:sldId id="295" r:id="rId28"/>
    <p:sldId id="272" r:id="rId29"/>
    <p:sldId id="304" r:id="rId30"/>
    <p:sldId id="286" r:id="rId31"/>
    <p:sldId id="287" r:id="rId32"/>
    <p:sldId id="294" r:id="rId33"/>
    <p:sldId id="268" r:id="rId34"/>
    <p:sldId id="305" r:id="rId35"/>
    <p:sldId id="306" r:id="rId36"/>
    <p:sldId id="300" r:id="rId37"/>
    <p:sldId id="301" r:id="rId38"/>
    <p:sldId id="274" r:id="rId39"/>
    <p:sldId id="296" r:id="rId40"/>
    <p:sldId id="297" r:id="rId41"/>
    <p:sldId id="299" r:id="rId42"/>
    <p:sldId id="275" r:id="rId43"/>
    <p:sldId id="307"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DA96CD-19D5-49B4-9586-B5073FC71074}"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IN"/>
        </a:p>
      </dgm:t>
    </dgm:pt>
    <dgm:pt modelId="{616A221F-0F34-4251-B143-3E42D5C65C72}">
      <dgm:prSet phldrT="[Text]" phldr="0"/>
      <dgm:spPr/>
      <dgm:t>
        <a:bodyPr/>
        <a:lstStyle/>
        <a:p>
          <a:r>
            <a:rPr lang="en-IN" dirty="0"/>
            <a:t>HIVE TASK</a:t>
          </a:r>
        </a:p>
      </dgm:t>
    </dgm:pt>
    <dgm:pt modelId="{BF251A9C-9A1B-430F-B13A-672CF2C64E67}" type="parTrans" cxnId="{A6F86359-5A6C-4C39-80FC-9ED6C7E8B6CF}">
      <dgm:prSet/>
      <dgm:spPr/>
      <dgm:t>
        <a:bodyPr/>
        <a:lstStyle/>
        <a:p>
          <a:endParaRPr lang="en-IN"/>
        </a:p>
      </dgm:t>
    </dgm:pt>
    <dgm:pt modelId="{747CFBA9-00C5-431B-B91F-CC08530B6932}" type="sibTrans" cxnId="{A6F86359-5A6C-4C39-80FC-9ED6C7E8B6CF}">
      <dgm:prSet/>
      <dgm:spPr/>
      <dgm:t>
        <a:bodyPr/>
        <a:lstStyle/>
        <a:p>
          <a:endParaRPr lang="en-IN"/>
        </a:p>
      </dgm:t>
    </dgm:pt>
    <dgm:pt modelId="{3A4D8128-D197-41EF-87D6-B401C1461285}">
      <dgm:prSet phldrT="[Text]" phldr="0"/>
      <dgm:spPr/>
      <dgm:t>
        <a:bodyPr/>
        <a:lstStyle/>
        <a:p>
          <a:r>
            <a:rPr lang="en-IN" dirty="0"/>
            <a:t>PYSPARK TASK</a:t>
          </a:r>
        </a:p>
      </dgm:t>
    </dgm:pt>
    <dgm:pt modelId="{C3574F99-1835-4F59-8501-37BEBCE44728}" type="parTrans" cxnId="{2E6916BC-FA27-4C02-BB30-8D89D6A7D9DE}">
      <dgm:prSet/>
      <dgm:spPr/>
      <dgm:t>
        <a:bodyPr/>
        <a:lstStyle/>
        <a:p>
          <a:endParaRPr lang="en-IN"/>
        </a:p>
      </dgm:t>
    </dgm:pt>
    <dgm:pt modelId="{F5FECAD6-1760-4C3C-A762-87D20D09DE46}" type="sibTrans" cxnId="{2E6916BC-FA27-4C02-BB30-8D89D6A7D9DE}">
      <dgm:prSet/>
      <dgm:spPr/>
      <dgm:t>
        <a:bodyPr/>
        <a:lstStyle/>
        <a:p>
          <a:endParaRPr lang="en-IN"/>
        </a:p>
      </dgm:t>
    </dgm:pt>
    <dgm:pt modelId="{9FBDA4FE-E8AD-4742-9E83-ADCF96B8940E}">
      <dgm:prSet phldrT="[Text]" phldr="0"/>
      <dgm:spPr/>
      <dgm:t>
        <a:bodyPr/>
        <a:lstStyle/>
        <a:p>
          <a:r>
            <a:rPr lang="en-IN" dirty="0"/>
            <a:t>SKLEARN TASK</a:t>
          </a:r>
        </a:p>
      </dgm:t>
    </dgm:pt>
    <dgm:pt modelId="{7048DA31-F37C-47E8-BAAC-BB84AE0237F7}" type="parTrans" cxnId="{D2EE2A92-7D4A-4D9B-9367-727DC0271D43}">
      <dgm:prSet/>
      <dgm:spPr/>
      <dgm:t>
        <a:bodyPr/>
        <a:lstStyle/>
        <a:p>
          <a:endParaRPr lang="en-IN"/>
        </a:p>
      </dgm:t>
    </dgm:pt>
    <dgm:pt modelId="{D6E99261-0D13-4986-A7AD-A0197D1CE086}" type="sibTrans" cxnId="{D2EE2A92-7D4A-4D9B-9367-727DC0271D43}">
      <dgm:prSet/>
      <dgm:spPr/>
      <dgm:t>
        <a:bodyPr/>
        <a:lstStyle/>
        <a:p>
          <a:endParaRPr lang="en-IN"/>
        </a:p>
      </dgm:t>
    </dgm:pt>
    <dgm:pt modelId="{A9EBFAEA-CD93-456C-BE39-A916C911C00F}" type="pres">
      <dgm:prSet presAssocID="{83DA96CD-19D5-49B4-9586-B5073FC71074}" presName="Name0" presStyleCnt="0">
        <dgm:presLayoutVars>
          <dgm:dir/>
          <dgm:animLvl val="lvl"/>
          <dgm:resizeHandles val="exact"/>
        </dgm:presLayoutVars>
      </dgm:prSet>
      <dgm:spPr/>
    </dgm:pt>
    <dgm:pt modelId="{FFF9D084-E259-4720-8F97-CB2D500F09E1}" type="pres">
      <dgm:prSet presAssocID="{616A221F-0F34-4251-B143-3E42D5C65C72}" presName="parTxOnly" presStyleLbl="node1" presStyleIdx="0" presStyleCnt="3">
        <dgm:presLayoutVars>
          <dgm:chMax val="0"/>
          <dgm:chPref val="0"/>
          <dgm:bulletEnabled val="1"/>
        </dgm:presLayoutVars>
      </dgm:prSet>
      <dgm:spPr/>
    </dgm:pt>
    <dgm:pt modelId="{2A867C19-6608-4B53-B5A1-F235E97D53B5}" type="pres">
      <dgm:prSet presAssocID="{747CFBA9-00C5-431B-B91F-CC08530B6932}" presName="parTxOnlySpace" presStyleCnt="0"/>
      <dgm:spPr/>
    </dgm:pt>
    <dgm:pt modelId="{9F65315B-7143-4DA4-AEC9-AD4781465CF1}" type="pres">
      <dgm:prSet presAssocID="{3A4D8128-D197-41EF-87D6-B401C1461285}" presName="parTxOnly" presStyleLbl="node1" presStyleIdx="1" presStyleCnt="3">
        <dgm:presLayoutVars>
          <dgm:chMax val="0"/>
          <dgm:chPref val="0"/>
          <dgm:bulletEnabled val="1"/>
        </dgm:presLayoutVars>
      </dgm:prSet>
      <dgm:spPr/>
    </dgm:pt>
    <dgm:pt modelId="{6E4D60B3-E65B-4D38-8ADC-AC46F8CD3227}" type="pres">
      <dgm:prSet presAssocID="{F5FECAD6-1760-4C3C-A762-87D20D09DE46}" presName="parTxOnlySpace" presStyleCnt="0"/>
      <dgm:spPr/>
    </dgm:pt>
    <dgm:pt modelId="{63337A93-7729-4B81-A7BC-17B56937588A}" type="pres">
      <dgm:prSet presAssocID="{9FBDA4FE-E8AD-4742-9E83-ADCF96B8940E}" presName="parTxOnly" presStyleLbl="node1" presStyleIdx="2" presStyleCnt="3">
        <dgm:presLayoutVars>
          <dgm:chMax val="0"/>
          <dgm:chPref val="0"/>
          <dgm:bulletEnabled val="1"/>
        </dgm:presLayoutVars>
      </dgm:prSet>
      <dgm:spPr/>
    </dgm:pt>
  </dgm:ptLst>
  <dgm:cxnLst>
    <dgm:cxn modelId="{E80DFE14-0D25-4FDB-B684-2A9366AE775C}" type="presOf" srcId="{83DA96CD-19D5-49B4-9586-B5073FC71074}" destId="{A9EBFAEA-CD93-456C-BE39-A916C911C00F}" srcOrd="0" destOrd="0" presId="urn:microsoft.com/office/officeart/2005/8/layout/chevron1"/>
    <dgm:cxn modelId="{961C6A25-5BCD-45EF-8E64-A47CFCE62941}" type="presOf" srcId="{9FBDA4FE-E8AD-4742-9E83-ADCF96B8940E}" destId="{63337A93-7729-4B81-A7BC-17B56937588A}" srcOrd="0" destOrd="0" presId="urn:microsoft.com/office/officeart/2005/8/layout/chevron1"/>
    <dgm:cxn modelId="{96EB3232-E44C-4935-9265-06558E4B51EB}" type="presOf" srcId="{616A221F-0F34-4251-B143-3E42D5C65C72}" destId="{FFF9D084-E259-4720-8F97-CB2D500F09E1}" srcOrd="0" destOrd="0" presId="urn:microsoft.com/office/officeart/2005/8/layout/chevron1"/>
    <dgm:cxn modelId="{A6F86359-5A6C-4C39-80FC-9ED6C7E8B6CF}" srcId="{83DA96CD-19D5-49B4-9586-B5073FC71074}" destId="{616A221F-0F34-4251-B143-3E42D5C65C72}" srcOrd="0" destOrd="0" parTransId="{BF251A9C-9A1B-430F-B13A-672CF2C64E67}" sibTransId="{747CFBA9-00C5-431B-B91F-CC08530B6932}"/>
    <dgm:cxn modelId="{5E7ECF90-C0DF-4E1D-8BEC-EE89D20DD30F}" type="presOf" srcId="{3A4D8128-D197-41EF-87D6-B401C1461285}" destId="{9F65315B-7143-4DA4-AEC9-AD4781465CF1}" srcOrd="0" destOrd="0" presId="urn:microsoft.com/office/officeart/2005/8/layout/chevron1"/>
    <dgm:cxn modelId="{D2EE2A92-7D4A-4D9B-9367-727DC0271D43}" srcId="{83DA96CD-19D5-49B4-9586-B5073FC71074}" destId="{9FBDA4FE-E8AD-4742-9E83-ADCF96B8940E}" srcOrd="2" destOrd="0" parTransId="{7048DA31-F37C-47E8-BAAC-BB84AE0237F7}" sibTransId="{D6E99261-0D13-4986-A7AD-A0197D1CE086}"/>
    <dgm:cxn modelId="{2E6916BC-FA27-4C02-BB30-8D89D6A7D9DE}" srcId="{83DA96CD-19D5-49B4-9586-B5073FC71074}" destId="{3A4D8128-D197-41EF-87D6-B401C1461285}" srcOrd="1" destOrd="0" parTransId="{C3574F99-1835-4F59-8501-37BEBCE44728}" sibTransId="{F5FECAD6-1760-4C3C-A762-87D20D09DE46}"/>
    <dgm:cxn modelId="{CC4F89C9-3E5C-4F15-AC20-CE231AB2026A}" type="presParOf" srcId="{A9EBFAEA-CD93-456C-BE39-A916C911C00F}" destId="{FFF9D084-E259-4720-8F97-CB2D500F09E1}" srcOrd="0" destOrd="0" presId="urn:microsoft.com/office/officeart/2005/8/layout/chevron1"/>
    <dgm:cxn modelId="{51952767-17D4-4760-85F7-A268310C1689}" type="presParOf" srcId="{A9EBFAEA-CD93-456C-BE39-A916C911C00F}" destId="{2A867C19-6608-4B53-B5A1-F235E97D53B5}" srcOrd="1" destOrd="0" presId="urn:microsoft.com/office/officeart/2005/8/layout/chevron1"/>
    <dgm:cxn modelId="{72B43B13-3548-417B-BBA3-4E20604F24CB}" type="presParOf" srcId="{A9EBFAEA-CD93-456C-BE39-A916C911C00F}" destId="{9F65315B-7143-4DA4-AEC9-AD4781465CF1}" srcOrd="2" destOrd="0" presId="urn:microsoft.com/office/officeart/2005/8/layout/chevron1"/>
    <dgm:cxn modelId="{722450E7-8205-4DAF-84BC-6DED68F95BA7}" type="presParOf" srcId="{A9EBFAEA-CD93-456C-BE39-A916C911C00F}" destId="{6E4D60B3-E65B-4D38-8ADC-AC46F8CD3227}" srcOrd="3" destOrd="0" presId="urn:microsoft.com/office/officeart/2005/8/layout/chevron1"/>
    <dgm:cxn modelId="{870D5F05-DB39-4418-99C4-8FC19D687A2F}" type="presParOf" srcId="{A9EBFAEA-CD93-456C-BE39-A916C911C00F}" destId="{63337A93-7729-4B81-A7BC-17B56937588A}"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F9D084-E259-4720-8F97-CB2D500F09E1}">
      <dsp:nvSpPr>
        <dsp:cNvPr id="0" name=""/>
        <dsp:cNvSpPr/>
      </dsp:nvSpPr>
      <dsp:spPr>
        <a:xfrm>
          <a:off x="2045" y="879828"/>
          <a:ext cx="2491719" cy="99668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kern="1200" dirty="0"/>
            <a:t>HIVE TASK</a:t>
          </a:r>
        </a:p>
      </dsp:txBody>
      <dsp:txXfrm>
        <a:off x="500389" y="879828"/>
        <a:ext cx="1495032" cy="996687"/>
      </dsp:txXfrm>
    </dsp:sp>
    <dsp:sp modelId="{9F65315B-7143-4DA4-AEC9-AD4781465CF1}">
      <dsp:nvSpPr>
        <dsp:cNvPr id="0" name=""/>
        <dsp:cNvSpPr/>
      </dsp:nvSpPr>
      <dsp:spPr>
        <a:xfrm>
          <a:off x="2244592" y="879828"/>
          <a:ext cx="2491719" cy="99668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kern="1200" dirty="0"/>
            <a:t>PYSPARK TASK</a:t>
          </a:r>
        </a:p>
      </dsp:txBody>
      <dsp:txXfrm>
        <a:off x="2742936" y="879828"/>
        <a:ext cx="1495032" cy="996687"/>
      </dsp:txXfrm>
    </dsp:sp>
    <dsp:sp modelId="{63337A93-7729-4B81-A7BC-17B56937588A}">
      <dsp:nvSpPr>
        <dsp:cNvPr id="0" name=""/>
        <dsp:cNvSpPr/>
      </dsp:nvSpPr>
      <dsp:spPr>
        <a:xfrm>
          <a:off x="4487139" y="879828"/>
          <a:ext cx="2491719" cy="99668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IN" sz="2500" kern="1200" dirty="0"/>
            <a:t>SKLEARN TASK</a:t>
          </a:r>
        </a:p>
      </dsp:txBody>
      <dsp:txXfrm>
        <a:off x="4985483" y="879828"/>
        <a:ext cx="1495032" cy="99668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9159A2-59CE-41E1-9A28-EDBC7FB84886}" type="datetimeFigureOut">
              <a:rPr lang="en-IN" smtClean="0"/>
              <a:t>29-01-2026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8EECA1-D2CA-4A2E-9188-2E95AF85701F}" type="slidenum">
              <a:rPr lang="en-IN" smtClean="0"/>
              <a:t>‹#›</a:t>
            </a:fld>
            <a:endParaRPr lang="en-IN"/>
          </a:p>
        </p:txBody>
      </p:sp>
    </p:spTree>
    <p:extLst>
      <p:ext uri="{BB962C8B-B14F-4D97-AF65-F5344CB8AC3E}">
        <p14:creationId xmlns:p14="http://schemas.microsoft.com/office/powerpoint/2010/main" val="804371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18EECA1-D2CA-4A2E-9188-2E95AF85701F}" type="slidenum">
              <a:rPr lang="en-IN" smtClean="0"/>
              <a:t>2</a:t>
            </a:fld>
            <a:endParaRPr lang="en-IN"/>
          </a:p>
        </p:txBody>
      </p:sp>
    </p:spTree>
    <p:extLst>
      <p:ext uri="{BB962C8B-B14F-4D97-AF65-F5344CB8AC3E}">
        <p14:creationId xmlns:p14="http://schemas.microsoft.com/office/powerpoint/2010/main" val="731963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AD07C1FE-4241-4A72-AE7F-26910E2BA23D}" type="datetimeFigureOut">
              <a:rPr lang="en-IN" smtClean="0"/>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144607109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07C1FE-4241-4A72-AE7F-26910E2BA23D}" type="datetimeFigureOut">
              <a:rPr lang="en-IN" smtClean="0"/>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1016230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AD07C1FE-4241-4A72-AE7F-26910E2BA23D}" type="datetimeFigureOut">
              <a:rPr lang="en-IN" smtClean="0"/>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121168941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D07C1FE-4241-4A72-AE7F-26910E2BA23D}" type="datetimeFigureOut">
              <a:rPr lang="en-IN" smtClean="0"/>
              <a:t>29-01-2026</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401841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AD07C1FE-4241-4A72-AE7F-26910E2BA23D}" type="datetimeFigureOut">
              <a:rPr lang="en-IN" smtClean="0"/>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2F0AB8-AA56-4ED3-817F-A1E194D3E2A3}"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43294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D07C1FE-4241-4A72-AE7F-26910E2BA23D}" type="datetimeFigureOut">
              <a:rPr lang="en-IN" smtClean="0"/>
              <a:t>29-01-2026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750180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07C1FE-4241-4A72-AE7F-26910E2BA23D}" type="datetimeFigureOut">
              <a:rPr lang="en-IN" smtClean="0"/>
              <a:t>29-01-2026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2281546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AD07C1FE-4241-4A72-AE7F-26910E2BA23D}" type="datetimeFigureOut">
              <a:rPr lang="en-IN" smtClean="0"/>
              <a:t>29-01-2026</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2124903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AD07C1FE-4241-4A72-AE7F-26910E2BA23D}" type="datetimeFigureOut">
              <a:rPr lang="en-IN" smtClean="0"/>
              <a:t>29-01-2026</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407177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07C1FE-4241-4A72-AE7F-26910E2BA23D}"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256075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07C1FE-4241-4A72-AE7F-26910E2BA23D}"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2F0AB8-AA56-4ED3-817F-A1E194D3E2A3}" type="slidenum">
              <a:rPr lang="en-IN" smtClean="0"/>
              <a:t>‹#›</a:t>
            </a:fld>
            <a:endParaRPr lang="en-IN"/>
          </a:p>
        </p:txBody>
      </p:sp>
    </p:spTree>
    <p:extLst>
      <p:ext uri="{BB962C8B-B14F-4D97-AF65-F5344CB8AC3E}">
        <p14:creationId xmlns:p14="http://schemas.microsoft.com/office/powerpoint/2010/main" val="1224900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AD07C1FE-4241-4A72-AE7F-26910E2BA23D}" type="datetimeFigureOut">
              <a:rPr lang="en-IN" smtClean="0"/>
              <a:t>29-01-2026</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B2F0AB8-AA56-4ED3-817F-A1E194D3E2A3}" type="slidenum">
              <a:rPr lang="en-IN" smtClean="0"/>
              <a:t>‹#›</a:t>
            </a:fld>
            <a:endParaRPr lang="en-IN"/>
          </a:p>
        </p:txBody>
      </p:sp>
    </p:spTree>
    <p:extLst>
      <p:ext uri="{BB962C8B-B14F-4D97-AF65-F5344CB8AC3E}">
        <p14:creationId xmlns:p14="http://schemas.microsoft.com/office/powerpoint/2010/main" val="4138679117"/>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39F57-417E-D227-5152-1D33A6932A32}"/>
              </a:ext>
            </a:extLst>
          </p:cNvPr>
          <p:cNvSpPr>
            <a:spLocks noGrp="1"/>
          </p:cNvSpPr>
          <p:nvPr>
            <p:ph type="ctrTitle"/>
          </p:nvPr>
        </p:nvSpPr>
        <p:spPr>
          <a:xfrm>
            <a:off x="1600199" y="722672"/>
            <a:ext cx="8991600" cy="1823884"/>
          </a:xfrm>
        </p:spPr>
        <p:txBody>
          <a:bodyPr/>
          <a:lstStyle/>
          <a:p>
            <a:pPr algn="ctr"/>
            <a:r>
              <a:rPr lang="en-US" sz="3600" dirty="0">
                <a:latin typeface="Algerian" panose="04020705040A02060702" pitchFamily="82" charset="0"/>
              </a:rPr>
              <a:t>Intelligent Log Analytics &amp; Incident Prediction System</a:t>
            </a:r>
            <a:endParaRPr lang="en-IN" sz="3600" dirty="0"/>
          </a:p>
        </p:txBody>
      </p:sp>
      <p:sp>
        <p:nvSpPr>
          <p:cNvPr id="3" name="Subtitle 2">
            <a:extLst>
              <a:ext uri="{FF2B5EF4-FFF2-40B4-BE49-F238E27FC236}">
                <a16:creationId xmlns:a16="http://schemas.microsoft.com/office/drawing/2014/main" id="{287C761E-0F88-B28B-5982-22E999BBD49E}"/>
              </a:ext>
            </a:extLst>
          </p:cNvPr>
          <p:cNvSpPr>
            <a:spLocks noGrp="1"/>
          </p:cNvSpPr>
          <p:nvPr>
            <p:ph type="subTitle" idx="1"/>
          </p:nvPr>
        </p:nvSpPr>
        <p:spPr>
          <a:xfrm>
            <a:off x="2018070" y="4050891"/>
            <a:ext cx="8155858" cy="1919748"/>
          </a:xfrm>
        </p:spPr>
        <p:txBody>
          <a:bodyPr>
            <a:normAutofit lnSpcReduction="10000"/>
          </a:bodyPr>
          <a:lstStyle/>
          <a:p>
            <a:pPr algn="l"/>
            <a:r>
              <a:rPr lang="en-IN" sz="2400" dirty="0">
                <a:solidFill>
                  <a:schemeClr val="bg1"/>
                </a:solidFill>
              </a:rPr>
              <a:t>GROUP MEMBERS:-</a:t>
            </a:r>
          </a:p>
          <a:p>
            <a:pPr marL="914400" lvl="1" indent="-457200" algn="l">
              <a:buAutoNum type="arabicPeriod"/>
            </a:pPr>
            <a:r>
              <a:rPr lang="en-IN" sz="2400" dirty="0">
                <a:solidFill>
                  <a:schemeClr val="bg1"/>
                </a:solidFill>
              </a:rPr>
              <a:t>1. Sukhada Pawar</a:t>
            </a:r>
          </a:p>
          <a:p>
            <a:pPr marL="914400" lvl="1" indent="-457200" algn="l">
              <a:buAutoNum type="arabicPeriod"/>
            </a:pPr>
            <a:r>
              <a:rPr lang="en-IN" sz="2400" dirty="0">
                <a:solidFill>
                  <a:schemeClr val="bg1"/>
                </a:solidFill>
              </a:rPr>
              <a:t>2. Neelu Meena</a:t>
            </a:r>
          </a:p>
          <a:p>
            <a:pPr marL="914400" lvl="1" indent="-457200" algn="l">
              <a:buAutoNum type="arabicPeriod"/>
            </a:pPr>
            <a:r>
              <a:rPr lang="en-IN" sz="2400" dirty="0">
                <a:solidFill>
                  <a:schemeClr val="bg1"/>
                </a:solidFill>
              </a:rPr>
              <a:t>3. Ishan Nayal</a:t>
            </a:r>
          </a:p>
        </p:txBody>
      </p:sp>
      <p:sp>
        <p:nvSpPr>
          <p:cNvPr id="4" name="Subtitle 2">
            <a:extLst>
              <a:ext uri="{FF2B5EF4-FFF2-40B4-BE49-F238E27FC236}">
                <a16:creationId xmlns:a16="http://schemas.microsoft.com/office/drawing/2014/main" id="{03E49311-3719-B872-8D1B-07EAE80BE557}"/>
              </a:ext>
            </a:extLst>
          </p:cNvPr>
          <p:cNvSpPr txBox="1">
            <a:spLocks/>
          </p:cNvSpPr>
          <p:nvPr/>
        </p:nvSpPr>
        <p:spPr>
          <a:xfrm>
            <a:off x="2018070" y="3016045"/>
            <a:ext cx="8155858" cy="825910"/>
          </a:xfrm>
          <a:prstGeom prst="rect">
            <a:avLst/>
          </a:prstGeom>
          <a:noFill/>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r>
              <a:rPr lang="en-IN" sz="2400" dirty="0">
                <a:solidFill>
                  <a:schemeClr val="bg1"/>
                </a:solidFill>
              </a:rPr>
              <a:t>GUIDED BY:- Prof. Divya Das</a:t>
            </a:r>
          </a:p>
        </p:txBody>
      </p:sp>
    </p:spTree>
    <p:extLst>
      <p:ext uri="{BB962C8B-B14F-4D97-AF65-F5344CB8AC3E}">
        <p14:creationId xmlns:p14="http://schemas.microsoft.com/office/powerpoint/2010/main" val="1738469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97F59-9517-72D9-FFC8-A83094DA8B59}"/>
              </a:ext>
            </a:extLst>
          </p:cNvPr>
          <p:cNvSpPr>
            <a:spLocks noGrp="1"/>
          </p:cNvSpPr>
          <p:nvPr>
            <p:ph type="title"/>
          </p:nvPr>
        </p:nvSpPr>
        <p:spPr>
          <a:xfrm>
            <a:off x="1451578" y="552869"/>
            <a:ext cx="9603275" cy="614907"/>
          </a:xfrm>
        </p:spPr>
        <p:txBody>
          <a:bodyPr>
            <a:normAutofit fontScale="90000"/>
          </a:bodyPr>
          <a:lstStyle/>
          <a:p>
            <a:r>
              <a:rPr lang="en-IN" dirty="0"/>
              <a:t>Abstract / Project Overview</a:t>
            </a:r>
          </a:p>
        </p:txBody>
      </p:sp>
      <p:sp>
        <p:nvSpPr>
          <p:cNvPr id="3" name="Content Placeholder 2">
            <a:extLst>
              <a:ext uri="{FF2B5EF4-FFF2-40B4-BE49-F238E27FC236}">
                <a16:creationId xmlns:a16="http://schemas.microsoft.com/office/drawing/2014/main" id="{EF7412C2-2C7E-8E2F-F0C0-1422D672B6A0}"/>
              </a:ext>
            </a:extLst>
          </p:cNvPr>
          <p:cNvSpPr>
            <a:spLocks noGrp="1"/>
          </p:cNvSpPr>
          <p:nvPr>
            <p:ph idx="1"/>
          </p:nvPr>
        </p:nvSpPr>
        <p:spPr>
          <a:xfrm>
            <a:off x="580104" y="1661651"/>
            <a:ext cx="6381135" cy="4916129"/>
          </a:xfrm>
        </p:spPr>
        <p:txBody>
          <a:bodyPr/>
          <a:lstStyle/>
          <a:p>
            <a:pPr marL="0" indent="0">
              <a:buNone/>
            </a:pPr>
            <a:r>
              <a:rPr lang="en-US" sz="2000" dirty="0"/>
              <a:t>• Modern IT systems generate massive volumes of log data</a:t>
            </a:r>
            <a:br>
              <a:rPr lang="en-US" sz="2000" dirty="0"/>
            </a:br>
            <a:endParaRPr lang="en-US" sz="2000" dirty="0"/>
          </a:p>
          <a:p>
            <a:pPr marL="0" indent="0">
              <a:buNone/>
            </a:pPr>
            <a:r>
              <a:rPr lang="en-US" sz="2000" dirty="0"/>
              <a:t>• Manual log analysis is inefficient and error-prone</a:t>
            </a:r>
            <a:br>
              <a:rPr lang="en-US" sz="2000" dirty="0"/>
            </a:br>
            <a:endParaRPr lang="en-US" sz="2000" dirty="0"/>
          </a:p>
          <a:p>
            <a:pPr marL="0" indent="0">
              <a:buNone/>
            </a:pPr>
            <a:r>
              <a:rPr lang="en-US" sz="2000" dirty="0"/>
              <a:t>• This project provides automated log analytics and incident prediction</a:t>
            </a:r>
            <a:br>
              <a:rPr lang="en-US" sz="2000" dirty="0"/>
            </a:br>
            <a:endParaRPr lang="en-US" sz="2000" dirty="0"/>
          </a:p>
          <a:p>
            <a:pPr marL="0" indent="0">
              <a:buNone/>
            </a:pPr>
            <a:r>
              <a:rPr lang="en-US" sz="2000" dirty="0"/>
              <a:t>•Combine Big Data technologies like HDFS, Hive, and </a:t>
            </a:r>
            <a:r>
              <a:rPr lang="en-US" sz="2000" dirty="0" err="1"/>
              <a:t>PySpark</a:t>
            </a:r>
            <a:r>
              <a:rPr lang="en-US" sz="2000" dirty="0"/>
              <a:t> with Machine Learning models to efficiently process logs and predict incidents before they escalate, thereby improving system reliability.</a:t>
            </a:r>
            <a:endParaRPr lang="en-IN" sz="2000" dirty="0"/>
          </a:p>
        </p:txBody>
      </p:sp>
      <p:pic>
        <p:nvPicPr>
          <p:cNvPr id="1026" name="Picture 2" descr="Anomaly Detection from Log Files: The Performance at Scale Use Case">
            <a:extLst>
              <a:ext uri="{FF2B5EF4-FFF2-40B4-BE49-F238E27FC236}">
                <a16:creationId xmlns:a16="http://schemas.microsoft.com/office/drawing/2014/main" id="{2F5F7801-9E3D-B2A4-01C7-0A114010D9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4434" r="20473"/>
          <a:stretch>
            <a:fillRect/>
          </a:stretch>
        </p:blipFill>
        <p:spPr bwMode="auto">
          <a:xfrm>
            <a:off x="7354529" y="2382137"/>
            <a:ext cx="4670323" cy="2691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721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BCD0-CFA4-D1E5-0E45-651CF9D5638F}"/>
              </a:ext>
            </a:extLst>
          </p:cNvPr>
          <p:cNvSpPr>
            <a:spLocks noGrp="1"/>
          </p:cNvSpPr>
          <p:nvPr>
            <p:ph type="title"/>
          </p:nvPr>
        </p:nvSpPr>
        <p:spPr>
          <a:xfrm>
            <a:off x="1451579" y="412955"/>
            <a:ext cx="9603275" cy="605057"/>
          </a:xfrm>
        </p:spPr>
        <p:txBody>
          <a:bodyPr>
            <a:normAutofit fontScale="90000"/>
          </a:bodyPr>
          <a:lstStyle/>
          <a:p>
            <a:r>
              <a:rPr lang="en-IN" dirty="0"/>
              <a:t>Problem Statement</a:t>
            </a:r>
          </a:p>
        </p:txBody>
      </p:sp>
      <p:sp>
        <p:nvSpPr>
          <p:cNvPr id="3" name="Content Placeholder 2">
            <a:extLst>
              <a:ext uri="{FF2B5EF4-FFF2-40B4-BE49-F238E27FC236}">
                <a16:creationId xmlns:a16="http://schemas.microsoft.com/office/drawing/2014/main" id="{8001DAF9-34CB-54EB-FC8D-0E421713D64E}"/>
              </a:ext>
            </a:extLst>
          </p:cNvPr>
          <p:cNvSpPr>
            <a:spLocks noGrp="1"/>
          </p:cNvSpPr>
          <p:nvPr>
            <p:ph idx="1"/>
          </p:nvPr>
        </p:nvSpPr>
        <p:spPr>
          <a:xfrm>
            <a:off x="1451579" y="1386349"/>
            <a:ext cx="9603275" cy="3293416"/>
          </a:xfrm>
        </p:spPr>
        <p:txBody>
          <a:bodyPr/>
          <a:lstStyle/>
          <a:p>
            <a:pPr marL="0" indent="0">
              <a:buNone/>
            </a:pPr>
            <a:r>
              <a:rPr lang="en-US" dirty="0"/>
              <a:t>• </a:t>
            </a:r>
            <a:r>
              <a:rPr lang="en-US" sz="2000" dirty="0">
                <a:latin typeface="Times New Roman" panose="02020603050405020304" pitchFamily="18" charset="0"/>
                <a:cs typeface="Times New Roman" panose="02020603050405020304" pitchFamily="18" charset="0"/>
              </a:rPr>
              <a:t>Log data is high-volume and semi-structured</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Traditional monitoring is reactive in nature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Delayed incident detection leads to downtime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Existing tools lack scalability and automation</a:t>
            </a:r>
            <a:endParaRPr lang="en-IN" sz="2000" dirty="0">
              <a:latin typeface="Times New Roman" panose="02020603050405020304" pitchFamily="18" charset="0"/>
              <a:cs typeface="Times New Roman" panose="02020603050405020304" pitchFamily="18" charset="0"/>
            </a:endParaRPr>
          </a:p>
        </p:txBody>
      </p:sp>
      <p:pic>
        <p:nvPicPr>
          <p:cNvPr id="2050" name="Picture 2" descr="Cusiness statistics sheet for sales, profit, and data analysis concept in financial report photo">
            <a:extLst>
              <a:ext uri="{FF2B5EF4-FFF2-40B4-BE49-F238E27FC236}">
                <a16:creationId xmlns:a16="http://schemas.microsoft.com/office/drawing/2014/main" id="{EBFC4DFD-1AB9-7913-609E-2CA131B1B3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9495" y="1762125"/>
            <a:ext cx="5000625"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4780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A622C-082A-8D18-C867-26D958FC6678}"/>
              </a:ext>
            </a:extLst>
          </p:cNvPr>
          <p:cNvSpPr>
            <a:spLocks noGrp="1"/>
          </p:cNvSpPr>
          <p:nvPr>
            <p:ph type="title"/>
          </p:nvPr>
        </p:nvSpPr>
        <p:spPr>
          <a:xfrm>
            <a:off x="1451579" y="678426"/>
            <a:ext cx="9603275" cy="723044"/>
          </a:xfrm>
        </p:spPr>
        <p:txBody>
          <a:bodyPr>
            <a:normAutofit fontScale="90000"/>
          </a:bodyPr>
          <a:lstStyle/>
          <a:p>
            <a:r>
              <a:rPr lang="en-IN" dirty="0"/>
              <a:t>Objectives</a:t>
            </a:r>
          </a:p>
        </p:txBody>
      </p:sp>
      <p:sp>
        <p:nvSpPr>
          <p:cNvPr id="3" name="Content Placeholder 2">
            <a:extLst>
              <a:ext uri="{FF2B5EF4-FFF2-40B4-BE49-F238E27FC236}">
                <a16:creationId xmlns:a16="http://schemas.microsoft.com/office/drawing/2014/main" id="{30B2EA15-02A4-2323-292B-4C2C00978F10}"/>
              </a:ext>
            </a:extLst>
          </p:cNvPr>
          <p:cNvSpPr>
            <a:spLocks noGrp="1"/>
          </p:cNvSpPr>
          <p:nvPr>
            <p:ph idx="1"/>
          </p:nvPr>
        </p:nvSpPr>
        <p:spPr>
          <a:xfrm>
            <a:off x="1451579" y="1691148"/>
            <a:ext cx="9603275" cy="3475704"/>
          </a:xfrm>
        </p:spPr>
        <p:txBody>
          <a:bodyPr>
            <a:normAutofit/>
          </a:bodyPr>
          <a:lstStyle/>
          <a:p>
            <a:pPr marL="0" indent="0">
              <a:buNone/>
            </a:pPr>
            <a:r>
              <a:rPr lang="en-US" dirty="0"/>
              <a:t>• </a:t>
            </a:r>
            <a:r>
              <a:rPr lang="en-US" sz="2000" dirty="0">
                <a:latin typeface="Times New Roman" panose="02020603050405020304" pitchFamily="18" charset="0"/>
                <a:cs typeface="Times New Roman" panose="02020603050405020304" pitchFamily="18" charset="0"/>
              </a:rPr>
              <a:t>Efficient storage and querying of log data</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Perform large-scale exploratory data analysis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Automate the data processing pipeline</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Predict incidents using machine learning</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Improve system reliability and response time</a:t>
            </a:r>
            <a:endParaRPr lang="en-IN" sz="2000" dirty="0">
              <a:latin typeface="Times New Roman" panose="02020603050405020304" pitchFamily="18" charset="0"/>
              <a:cs typeface="Times New Roman" panose="02020603050405020304" pitchFamily="18" charset="0"/>
            </a:endParaRPr>
          </a:p>
        </p:txBody>
      </p:sp>
      <p:pic>
        <p:nvPicPr>
          <p:cNvPr id="3074" name="Picture 2" descr="Hand drawing Objectives Arrows concept with marker on transparent wipe board. Objectives stock images, royalty-free photos and pictures">
            <a:extLst>
              <a:ext uri="{FF2B5EF4-FFF2-40B4-BE49-F238E27FC236}">
                <a16:creationId xmlns:a16="http://schemas.microsoft.com/office/drawing/2014/main" id="{ECB3ADFF-B11E-D626-2D4F-A18E90BCDB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7547" y="1894891"/>
            <a:ext cx="4596581" cy="3068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48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C704C-6E96-D76B-22FF-0A36A1B0FC57}"/>
              </a:ext>
            </a:extLst>
          </p:cNvPr>
          <p:cNvSpPr>
            <a:spLocks noGrp="1"/>
          </p:cNvSpPr>
          <p:nvPr>
            <p:ph type="title"/>
          </p:nvPr>
        </p:nvSpPr>
        <p:spPr>
          <a:xfrm>
            <a:off x="1451579" y="469303"/>
            <a:ext cx="9603275" cy="605057"/>
          </a:xfrm>
        </p:spPr>
        <p:txBody>
          <a:bodyPr>
            <a:normAutofit fontScale="90000"/>
          </a:bodyPr>
          <a:lstStyle/>
          <a:p>
            <a:r>
              <a:rPr lang="en-IN" dirty="0"/>
              <a:t>System Architecture</a:t>
            </a:r>
          </a:p>
        </p:txBody>
      </p:sp>
      <p:sp>
        <p:nvSpPr>
          <p:cNvPr id="3" name="Content Placeholder 2">
            <a:extLst>
              <a:ext uri="{FF2B5EF4-FFF2-40B4-BE49-F238E27FC236}">
                <a16:creationId xmlns:a16="http://schemas.microsoft.com/office/drawing/2014/main" id="{51EAFEDA-6D14-48B8-E64E-8C7385451582}"/>
              </a:ext>
            </a:extLst>
          </p:cNvPr>
          <p:cNvSpPr>
            <a:spLocks noGrp="1"/>
          </p:cNvSpPr>
          <p:nvPr>
            <p:ph idx="1"/>
          </p:nvPr>
        </p:nvSpPr>
        <p:spPr>
          <a:xfrm>
            <a:off x="1451580" y="1423218"/>
            <a:ext cx="5647310" cy="5164395"/>
          </a:xfrm>
        </p:spPr>
        <p:txBody>
          <a:bodyPr>
            <a:normAutofit/>
          </a:bodyPr>
          <a:lstStyle/>
          <a:p>
            <a:pPr marL="0" indent="0">
              <a:buNone/>
            </a:pPr>
            <a:r>
              <a:rPr lang="en-IN" dirty="0"/>
              <a:t>• </a:t>
            </a:r>
            <a:r>
              <a:rPr lang="en-IN" sz="2000" dirty="0">
                <a:latin typeface="Times New Roman" panose="02020603050405020304" pitchFamily="18" charset="0"/>
                <a:cs typeface="Times New Roman" panose="02020603050405020304" pitchFamily="18" charset="0"/>
              </a:rPr>
              <a:t>Log Sources (System / Application Logs)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HDFS for distributed storage</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Hive for querying and descriptive statistics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PySpark for EDA and feature engineering</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Machine Learning model for incident prediction using Scikit Learn</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Airflow for pipeline orchestration</a:t>
            </a:r>
          </a:p>
        </p:txBody>
      </p:sp>
      <p:pic>
        <p:nvPicPr>
          <p:cNvPr id="4098" name="Picture 2" descr="Understanding System Architecture: Key Concepts and Principles">
            <a:extLst>
              <a:ext uri="{FF2B5EF4-FFF2-40B4-BE49-F238E27FC236}">
                <a16:creationId xmlns:a16="http://schemas.microsoft.com/office/drawing/2014/main" id="{F4073386-6EE4-003E-F60E-8C01D3C0B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6713" y="1423218"/>
            <a:ext cx="5053780" cy="5053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0824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DFD95-492B-CC93-3AD1-FE045B8483B1}"/>
              </a:ext>
            </a:extLst>
          </p:cNvPr>
          <p:cNvSpPr>
            <a:spLocks noGrp="1"/>
          </p:cNvSpPr>
          <p:nvPr>
            <p:ph type="title"/>
          </p:nvPr>
        </p:nvSpPr>
        <p:spPr>
          <a:xfrm>
            <a:off x="1451579" y="703007"/>
            <a:ext cx="9603275" cy="624722"/>
          </a:xfrm>
        </p:spPr>
        <p:txBody>
          <a:bodyPr>
            <a:normAutofit fontScale="90000"/>
          </a:bodyPr>
          <a:lstStyle/>
          <a:p>
            <a:r>
              <a:rPr lang="en-IN" dirty="0"/>
              <a:t>Technology Stack</a:t>
            </a:r>
          </a:p>
        </p:txBody>
      </p:sp>
      <p:sp>
        <p:nvSpPr>
          <p:cNvPr id="3" name="Content Placeholder 2">
            <a:extLst>
              <a:ext uri="{FF2B5EF4-FFF2-40B4-BE49-F238E27FC236}">
                <a16:creationId xmlns:a16="http://schemas.microsoft.com/office/drawing/2014/main" id="{5EF807EE-C1C6-0C95-A671-6BAD7DD72ECC}"/>
              </a:ext>
            </a:extLst>
          </p:cNvPr>
          <p:cNvSpPr>
            <a:spLocks noGrp="1"/>
          </p:cNvSpPr>
          <p:nvPr>
            <p:ph idx="1"/>
          </p:nvPr>
        </p:nvSpPr>
        <p:spPr>
          <a:xfrm>
            <a:off x="1451578" y="1602658"/>
            <a:ext cx="9603275" cy="4119715"/>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 Storage Layer: HDFS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Descriptive Statistics: Apache Hive</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Data Processing: PySpark</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 Machine Learning: Scikit-learn</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Workflow Orchestration: Apache Airflow</a:t>
            </a:r>
            <a:br>
              <a:rPr lang="en-IN" dirty="0"/>
            </a:br>
            <a:endParaRPr lang="en-IN" dirty="0"/>
          </a:p>
        </p:txBody>
      </p:sp>
      <p:pic>
        <p:nvPicPr>
          <p:cNvPr id="5122" name="Picture 2" descr="What is a tech stack? Technology stack in a nutshell | DAC.digital">
            <a:extLst>
              <a:ext uri="{FF2B5EF4-FFF2-40B4-BE49-F238E27FC236}">
                <a16:creationId xmlns:a16="http://schemas.microsoft.com/office/drawing/2014/main" id="{12372165-E570-6BEA-210D-E888D19FC9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948552"/>
            <a:ext cx="6053422" cy="3427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5766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4F65-0E7F-92A8-A93D-AC3043B4A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528AE-8D31-C7C9-7C38-01A0C482A15D}"/>
              </a:ext>
            </a:extLst>
          </p:cNvPr>
          <p:cNvSpPr>
            <a:spLocks noGrp="1"/>
          </p:cNvSpPr>
          <p:nvPr>
            <p:ph type="title"/>
          </p:nvPr>
        </p:nvSpPr>
        <p:spPr>
          <a:xfrm>
            <a:off x="1451578" y="597123"/>
            <a:ext cx="9603275" cy="644386"/>
          </a:xfrm>
        </p:spPr>
        <p:txBody>
          <a:bodyPr>
            <a:normAutofit fontScale="90000"/>
          </a:bodyPr>
          <a:lstStyle/>
          <a:p>
            <a:r>
              <a:rPr lang="en-IN" dirty="0"/>
              <a:t>Data Description</a:t>
            </a:r>
          </a:p>
        </p:txBody>
      </p:sp>
      <p:sp>
        <p:nvSpPr>
          <p:cNvPr id="3" name="Content Placeholder 2">
            <a:extLst>
              <a:ext uri="{FF2B5EF4-FFF2-40B4-BE49-F238E27FC236}">
                <a16:creationId xmlns:a16="http://schemas.microsoft.com/office/drawing/2014/main" id="{1C1E0929-92F0-B6CA-7735-94EE2A6579AC}"/>
              </a:ext>
            </a:extLst>
          </p:cNvPr>
          <p:cNvSpPr>
            <a:spLocks noGrp="1"/>
          </p:cNvSpPr>
          <p:nvPr>
            <p:ph idx="1"/>
          </p:nvPr>
        </p:nvSpPr>
        <p:spPr>
          <a:xfrm>
            <a:off x="1451578" y="1671484"/>
            <a:ext cx="9603275" cy="3746090"/>
          </a:xfrm>
        </p:spPr>
        <p:txBody>
          <a:bodyPr>
            <a:normAutofit/>
          </a:bodyPr>
          <a:lstStyle/>
          <a:p>
            <a:pPr marL="0" indent="0">
              <a:buNone/>
            </a:pP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8538492-3609-0017-B2DB-647D58FF68ED}"/>
              </a:ext>
            </a:extLst>
          </p:cNvPr>
          <p:cNvPicPr>
            <a:picLocks noChangeAspect="1"/>
          </p:cNvPicPr>
          <p:nvPr/>
        </p:nvPicPr>
        <p:blipFill>
          <a:blip r:embed="rId2"/>
          <a:stretch>
            <a:fillRect/>
          </a:stretch>
        </p:blipFill>
        <p:spPr>
          <a:xfrm>
            <a:off x="568573" y="1761690"/>
            <a:ext cx="11054853" cy="3979991"/>
          </a:xfrm>
          <a:prstGeom prst="rect">
            <a:avLst/>
          </a:prstGeom>
        </p:spPr>
      </p:pic>
    </p:spTree>
    <p:extLst>
      <p:ext uri="{BB962C8B-B14F-4D97-AF65-F5344CB8AC3E}">
        <p14:creationId xmlns:p14="http://schemas.microsoft.com/office/powerpoint/2010/main" val="1796170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421F6-460C-A05C-1902-2474ABD1B4A9}"/>
              </a:ext>
            </a:extLst>
          </p:cNvPr>
          <p:cNvSpPr>
            <a:spLocks noGrp="1"/>
          </p:cNvSpPr>
          <p:nvPr>
            <p:ph type="title"/>
          </p:nvPr>
        </p:nvSpPr>
        <p:spPr>
          <a:xfrm>
            <a:off x="1451578" y="597123"/>
            <a:ext cx="9603275" cy="644386"/>
          </a:xfrm>
        </p:spPr>
        <p:txBody>
          <a:bodyPr>
            <a:normAutofit fontScale="90000"/>
          </a:bodyPr>
          <a:lstStyle/>
          <a:p>
            <a:r>
              <a:rPr lang="en-IN" dirty="0"/>
              <a:t>Data Description</a:t>
            </a:r>
          </a:p>
        </p:txBody>
      </p:sp>
      <p:sp>
        <p:nvSpPr>
          <p:cNvPr id="3" name="Content Placeholder 2">
            <a:extLst>
              <a:ext uri="{FF2B5EF4-FFF2-40B4-BE49-F238E27FC236}">
                <a16:creationId xmlns:a16="http://schemas.microsoft.com/office/drawing/2014/main" id="{6B9B3781-1B74-1AF2-53C8-FA7641D3C393}"/>
              </a:ext>
            </a:extLst>
          </p:cNvPr>
          <p:cNvSpPr>
            <a:spLocks noGrp="1"/>
          </p:cNvSpPr>
          <p:nvPr>
            <p:ph idx="1"/>
          </p:nvPr>
        </p:nvSpPr>
        <p:spPr>
          <a:xfrm>
            <a:off x="1451578" y="1671483"/>
            <a:ext cx="9603275" cy="4827639"/>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 Type of data: System and Application Logs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Nature of data: Semi-structured</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Key Fields: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Timestamp</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Log Level (INFO, WARN, ERROR)</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Source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 Log Message</a:t>
            </a:r>
            <a:endParaRPr lang="en-IN" sz="2000" dirty="0">
              <a:latin typeface="Times New Roman" panose="02020603050405020304" pitchFamily="18" charset="0"/>
              <a:cs typeface="Times New Roman" panose="02020603050405020304" pitchFamily="18" charset="0"/>
            </a:endParaRPr>
          </a:p>
        </p:txBody>
      </p:sp>
      <p:pic>
        <p:nvPicPr>
          <p:cNvPr id="6146" name="Picture 2" descr="data science">
            <a:extLst>
              <a:ext uri="{FF2B5EF4-FFF2-40B4-BE49-F238E27FC236}">
                <a16:creationId xmlns:a16="http://schemas.microsoft.com/office/drawing/2014/main" id="{1ADB4A5A-ABED-4519-CE01-053E44DC25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970" y="1859833"/>
            <a:ext cx="5576379" cy="31383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915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E3B5D-F654-EDC5-3BE0-B9776D37CECD}"/>
              </a:ext>
            </a:extLst>
          </p:cNvPr>
          <p:cNvSpPr>
            <a:spLocks noGrp="1"/>
          </p:cNvSpPr>
          <p:nvPr>
            <p:ph type="title"/>
          </p:nvPr>
        </p:nvSpPr>
        <p:spPr>
          <a:xfrm>
            <a:off x="1451579" y="648930"/>
            <a:ext cx="9603275" cy="713212"/>
          </a:xfrm>
        </p:spPr>
        <p:txBody>
          <a:bodyPr>
            <a:normAutofit fontScale="90000"/>
          </a:bodyPr>
          <a:lstStyle/>
          <a:p>
            <a:r>
              <a:rPr lang="en-IN" dirty="0"/>
              <a:t>Hive analysis</a:t>
            </a:r>
          </a:p>
        </p:txBody>
      </p:sp>
      <p:sp>
        <p:nvSpPr>
          <p:cNvPr id="3" name="Content Placeholder 2">
            <a:extLst>
              <a:ext uri="{FF2B5EF4-FFF2-40B4-BE49-F238E27FC236}">
                <a16:creationId xmlns:a16="http://schemas.microsoft.com/office/drawing/2014/main" id="{3349BFB8-0B87-D8EA-7E33-C2D3941190C0}"/>
              </a:ext>
            </a:extLst>
          </p:cNvPr>
          <p:cNvSpPr>
            <a:spLocks noGrp="1"/>
          </p:cNvSpPr>
          <p:nvPr>
            <p:ph idx="1"/>
          </p:nvPr>
        </p:nvSpPr>
        <p:spPr>
          <a:xfrm>
            <a:off x="1451579" y="1720644"/>
            <a:ext cx="9603275" cy="4812891"/>
          </a:xfrm>
        </p:spPr>
        <p:txBody>
          <a:bodyPr>
            <a:normAutofit fontScale="92500" lnSpcReduction="10000"/>
          </a:bodyPr>
          <a:lstStyle/>
          <a:p>
            <a:r>
              <a:rPr lang="en-US" sz="2000" dirty="0">
                <a:latin typeface="Times New Roman" panose="02020603050405020304" pitchFamily="18" charset="0"/>
                <a:cs typeface="Times New Roman" panose="02020603050405020304" pitchFamily="18" charset="0"/>
              </a:rPr>
              <a:t>Created </a:t>
            </a:r>
            <a:r>
              <a:rPr lang="en-US" sz="2000" b="1" dirty="0">
                <a:latin typeface="Times New Roman" panose="02020603050405020304" pitchFamily="18" charset="0"/>
                <a:cs typeface="Times New Roman" panose="02020603050405020304" pitchFamily="18" charset="0"/>
              </a:rPr>
              <a:t>external table</a:t>
            </a:r>
            <a:r>
              <a:rPr lang="en-US" sz="2000" dirty="0">
                <a:latin typeface="Times New Roman" panose="02020603050405020304" pitchFamily="18" charset="0"/>
                <a:cs typeface="Times New Roman" panose="02020603050405020304" pitchFamily="18" charset="0"/>
              </a:rPr>
              <a:t> from raw HDFS logs</a:t>
            </a:r>
          </a:p>
          <a:p>
            <a:r>
              <a:rPr lang="en-US" sz="2000" b="1" dirty="0">
                <a:latin typeface="Times New Roman" panose="02020603050405020304" pitchFamily="18" charset="0"/>
                <a:cs typeface="Times New Roman" panose="02020603050405020304" pitchFamily="18" charset="0"/>
              </a:rPr>
              <a:t>Feature Variables and Target variable</a:t>
            </a:r>
            <a:endParaRPr lang="en-US" sz="2000" dirty="0">
              <a:latin typeface="Times New Roman" panose="02020603050405020304" pitchFamily="18" charset="0"/>
              <a:cs typeface="Times New Roman" panose="02020603050405020304" pitchFamily="18" charset="0"/>
            </a:endParaRPr>
          </a:p>
          <a:p>
            <a:pPr lvl="2"/>
            <a:r>
              <a:rPr lang="en-IN" sz="1800" dirty="0">
                <a:latin typeface="Times New Roman" panose="02020603050405020304" pitchFamily="18" charset="0"/>
                <a:cs typeface="Times New Roman" panose="02020603050405020304" pitchFamily="18" charset="0"/>
              </a:rPr>
              <a:t>Target Variable:-</a:t>
            </a:r>
          </a:p>
          <a:p>
            <a:pPr lvl="3"/>
            <a:r>
              <a:rPr lang="en-IN" sz="1800" dirty="0">
                <a:latin typeface="Times New Roman" panose="02020603050405020304" pitchFamily="18" charset="0"/>
                <a:cs typeface="Times New Roman" panose="02020603050405020304" pitchFamily="18" charset="0"/>
              </a:rPr>
              <a:t>Incident </a:t>
            </a:r>
          </a:p>
          <a:p>
            <a:pPr lvl="4"/>
            <a:r>
              <a:rPr lang="en-IN" sz="1800" dirty="0">
                <a:latin typeface="Times New Roman" panose="02020603050405020304" pitchFamily="18" charset="0"/>
                <a:cs typeface="Times New Roman" panose="02020603050405020304" pitchFamily="18" charset="0"/>
              </a:rPr>
              <a:t>Where 0 is normal log</a:t>
            </a:r>
          </a:p>
          <a:p>
            <a:pPr lvl="4"/>
            <a:r>
              <a:rPr lang="en-IN" sz="1800" dirty="0">
                <a:latin typeface="Times New Roman" panose="02020603050405020304" pitchFamily="18" charset="0"/>
                <a:cs typeface="Times New Roman" panose="02020603050405020304" pitchFamily="18" charset="0"/>
              </a:rPr>
              <a:t>Where 1 is for error/warning</a:t>
            </a:r>
          </a:p>
          <a:p>
            <a:pPr lvl="2"/>
            <a:r>
              <a:rPr lang="en-IN" sz="1800" dirty="0">
                <a:latin typeface="Times New Roman" panose="02020603050405020304" pitchFamily="18" charset="0"/>
                <a:cs typeface="Times New Roman" panose="02020603050405020304" pitchFamily="18" charset="0"/>
              </a:rPr>
              <a:t>Feature variables:- </a:t>
            </a:r>
          </a:p>
          <a:p>
            <a:pPr lvl="3"/>
            <a:r>
              <a:rPr lang="en-IN" sz="1800" dirty="0">
                <a:latin typeface="Times New Roman" panose="02020603050405020304" pitchFamily="18" charset="0"/>
                <a:cs typeface="Times New Roman" panose="02020603050405020304" pitchFamily="18" charset="0"/>
              </a:rPr>
              <a:t>Component</a:t>
            </a:r>
          </a:p>
          <a:p>
            <a:pPr lvl="3"/>
            <a:r>
              <a:rPr lang="en-IN" sz="1800" dirty="0" err="1">
                <a:latin typeface="Times New Roman" panose="02020603050405020304" pitchFamily="18" charset="0"/>
                <a:cs typeface="Times New Roman" panose="02020603050405020304" pitchFamily="18" charset="0"/>
              </a:rPr>
              <a:t>Time_Window</a:t>
            </a:r>
            <a:endParaRPr lang="en-IN" sz="1800" dirty="0">
              <a:latin typeface="Times New Roman" panose="02020603050405020304" pitchFamily="18" charset="0"/>
              <a:cs typeface="Times New Roman" panose="02020603050405020304" pitchFamily="18" charset="0"/>
            </a:endParaRPr>
          </a:p>
          <a:p>
            <a:pPr lvl="3"/>
            <a:r>
              <a:rPr lang="en-IN" sz="1800" dirty="0" err="1">
                <a:latin typeface="Times New Roman" panose="02020603050405020304" pitchFamily="18" charset="0"/>
                <a:cs typeface="Times New Roman" panose="02020603050405020304" pitchFamily="18" charset="0"/>
              </a:rPr>
              <a:t>Warn_Count</a:t>
            </a:r>
            <a:endParaRPr lang="en-IN" sz="1800" dirty="0">
              <a:latin typeface="Times New Roman" panose="02020603050405020304" pitchFamily="18" charset="0"/>
              <a:cs typeface="Times New Roman" panose="02020603050405020304" pitchFamily="18" charset="0"/>
            </a:endParaRPr>
          </a:p>
          <a:p>
            <a:pPr lvl="3"/>
            <a:r>
              <a:rPr lang="en-IN" sz="1800" dirty="0" err="1">
                <a:latin typeface="Times New Roman" panose="02020603050405020304" pitchFamily="18" charset="0"/>
                <a:cs typeface="Times New Roman" panose="02020603050405020304" pitchFamily="18" charset="0"/>
              </a:rPr>
              <a:t>Unique_Event_Count</a:t>
            </a:r>
            <a:endParaRPr lang="en-IN" sz="1800" dirty="0">
              <a:latin typeface="Times New Roman" panose="02020603050405020304" pitchFamily="18" charset="0"/>
              <a:cs typeface="Times New Roman" panose="02020603050405020304" pitchFamily="18" charset="0"/>
            </a:endParaRPr>
          </a:p>
          <a:p>
            <a:pPr lvl="3"/>
            <a:r>
              <a:rPr lang="en-IN" sz="1800" dirty="0" err="1">
                <a:latin typeface="Times New Roman" panose="02020603050405020304" pitchFamily="18" charset="0"/>
                <a:cs typeface="Times New Roman" panose="02020603050405020304" pitchFamily="18" charset="0"/>
              </a:rPr>
              <a:t>Log_Volume</a:t>
            </a:r>
            <a:br>
              <a:rPr lang="en-IN" dirty="0">
                <a:latin typeface="Times New Roman" panose="02020603050405020304" pitchFamily="18" charset="0"/>
                <a:cs typeface="Times New Roman" panose="02020603050405020304" pitchFamily="18" charset="0"/>
              </a:rPr>
            </a:br>
            <a:br>
              <a:rPr lang="en-IN" dirty="0"/>
            </a:br>
            <a:endParaRPr lang="en-IN" dirty="0"/>
          </a:p>
        </p:txBody>
      </p:sp>
      <p:pic>
        <p:nvPicPr>
          <p:cNvPr id="7170" name="Picture 2" descr="Concept of stock market and fintech data analysis. Blue and violet digital bar charts over dark blue background. Futuristic financial interface. 3d rendering">
            <a:extLst>
              <a:ext uri="{FF2B5EF4-FFF2-40B4-BE49-F238E27FC236}">
                <a16:creationId xmlns:a16="http://schemas.microsoft.com/office/drawing/2014/main" id="{9060BFC0-4642-862C-474A-7AD79E629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8630" y="1791699"/>
            <a:ext cx="5394938" cy="3274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3896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A6E9E-9851-D83E-91C6-F6DAC165483A}"/>
              </a:ext>
            </a:extLst>
          </p:cNvPr>
          <p:cNvSpPr>
            <a:spLocks noGrp="1"/>
          </p:cNvSpPr>
          <p:nvPr>
            <p:ph idx="1"/>
          </p:nvPr>
        </p:nvSpPr>
        <p:spPr>
          <a:xfrm>
            <a:off x="176193" y="1396182"/>
            <a:ext cx="11848657" cy="5161934"/>
          </a:xfrm>
        </p:spPr>
        <p:txBody>
          <a:bodyPr/>
          <a:lstStyle/>
          <a:p>
            <a:pPr marL="0" indent="0">
              <a:buNone/>
            </a:pPr>
            <a:endParaRPr lang="en-US" dirty="0"/>
          </a:p>
          <a:p>
            <a:endParaRPr lang="en-IN" dirty="0"/>
          </a:p>
        </p:txBody>
      </p:sp>
      <p:pic>
        <p:nvPicPr>
          <p:cNvPr id="4" name="Picture 3">
            <a:extLst>
              <a:ext uri="{FF2B5EF4-FFF2-40B4-BE49-F238E27FC236}">
                <a16:creationId xmlns:a16="http://schemas.microsoft.com/office/drawing/2014/main" id="{BB350FB7-48DB-30C7-0F15-AFBCE08CEE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5283" y="1574436"/>
            <a:ext cx="6297690" cy="4357896"/>
          </a:xfrm>
          <a:prstGeom prst="rect">
            <a:avLst/>
          </a:prstGeom>
        </p:spPr>
      </p:pic>
      <p:pic>
        <p:nvPicPr>
          <p:cNvPr id="6" name="Content Placeholder 4">
            <a:extLst>
              <a:ext uri="{FF2B5EF4-FFF2-40B4-BE49-F238E27FC236}">
                <a16:creationId xmlns:a16="http://schemas.microsoft.com/office/drawing/2014/main" id="{F32F2E96-52B2-21E2-C006-E23384108ED6}"/>
              </a:ext>
            </a:extLst>
          </p:cNvPr>
          <p:cNvPicPr>
            <a:picLocks noGrp="1" noChangeAspect="1"/>
          </p:cNvPicPr>
          <p:nvPr/>
        </p:nvPicPr>
        <p:blipFill>
          <a:blip r:embed="rId3">
            <a:extLst>
              <a:ext uri="{28A0092B-C50C-407E-A947-70E740481C1C}">
                <a14:useLocalDpi xmlns:a14="http://schemas.microsoft.com/office/drawing/2010/main" val="0"/>
              </a:ext>
            </a:extLst>
          </a:blip>
          <a:srcRect r="28469"/>
          <a:stretch>
            <a:fillRect/>
          </a:stretch>
        </p:blipFill>
        <p:spPr>
          <a:xfrm>
            <a:off x="299754" y="2756047"/>
            <a:ext cx="4358834" cy="1994674"/>
          </a:xfrm>
          <a:prstGeom prst="rect">
            <a:avLst/>
          </a:prstGeom>
        </p:spPr>
      </p:pic>
      <p:cxnSp>
        <p:nvCxnSpPr>
          <p:cNvPr id="8" name="Straight Arrow Connector 7">
            <a:extLst>
              <a:ext uri="{FF2B5EF4-FFF2-40B4-BE49-F238E27FC236}">
                <a16:creationId xmlns:a16="http://schemas.microsoft.com/office/drawing/2014/main" id="{9FDDC38A-C842-F5A9-0CC2-F88D8C0BA023}"/>
              </a:ext>
            </a:extLst>
          </p:cNvPr>
          <p:cNvCxnSpPr/>
          <p:nvPr/>
        </p:nvCxnSpPr>
        <p:spPr>
          <a:xfrm>
            <a:off x="4866968" y="3743552"/>
            <a:ext cx="58993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itle 10">
            <a:extLst>
              <a:ext uri="{FF2B5EF4-FFF2-40B4-BE49-F238E27FC236}">
                <a16:creationId xmlns:a16="http://schemas.microsoft.com/office/drawing/2014/main" id="{3CDA4EFA-CFA4-F69B-7E48-D8D6304D899C}"/>
              </a:ext>
            </a:extLst>
          </p:cNvPr>
          <p:cNvSpPr>
            <a:spLocks noGrp="1"/>
          </p:cNvSpPr>
          <p:nvPr>
            <p:ph type="title"/>
          </p:nvPr>
        </p:nvSpPr>
        <p:spPr>
          <a:xfrm>
            <a:off x="2231136" y="299884"/>
            <a:ext cx="7729728" cy="741190"/>
          </a:xfrm>
        </p:spPr>
        <p:txBody>
          <a:bodyPr>
            <a:normAutofit fontScale="90000"/>
          </a:bodyPr>
          <a:lstStyle/>
          <a:p>
            <a:r>
              <a:rPr lang="en-IN" dirty="0"/>
              <a:t>Data processing </a:t>
            </a:r>
          </a:p>
        </p:txBody>
      </p:sp>
    </p:spTree>
    <p:extLst>
      <p:ext uri="{BB962C8B-B14F-4D97-AF65-F5344CB8AC3E}">
        <p14:creationId xmlns:p14="http://schemas.microsoft.com/office/powerpoint/2010/main" val="2727959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AB37D-1FF5-A16A-E00D-6C7DDE545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BB5DBF-3283-0173-4F9E-F2165D9E6F12}"/>
              </a:ext>
            </a:extLst>
          </p:cNvPr>
          <p:cNvSpPr>
            <a:spLocks noGrp="1"/>
          </p:cNvSpPr>
          <p:nvPr>
            <p:ph type="title"/>
          </p:nvPr>
        </p:nvSpPr>
        <p:spPr>
          <a:xfrm>
            <a:off x="1451578" y="597123"/>
            <a:ext cx="9603275" cy="644386"/>
          </a:xfrm>
        </p:spPr>
        <p:txBody>
          <a:bodyPr>
            <a:normAutofit fontScale="90000"/>
          </a:bodyPr>
          <a:lstStyle/>
          <a:p>
            <a:r>
              <a:rPr lang="en-IN" dirty="0"/>
              <a:t>HDFS_FEATUREs.csv</a:t>
            </a:r>
          </a:p>
        </p:txBody>
      </p:sp>
      <p:pic>
        <p:nvPicPr>
          <p:cNvPr id="6" name="Picture 5">
            <a:extLst>
              <a:ext uri="{FF2B5EF4-FFF2-40B4-BE49-F238E27FC236}">
                <a16:creationId xmlns:a16="http://schemas.microsoft.com/office/drawing/2014/main" id="{41E9C227-34A3-2E0A-BBD0-83744D87B325}"/>
              </a:ext>
            </a:extLst>
          </p:cNvPr>
          <p:cNvPicPr>
            <a:picLocks noChangeAspect="1"/>
          </p:cNvPicPr>
          <p:nvPr/>
        </p:nvPicPr>
        <p:blipFill>
          <a:blip r:embed="rId2"/>
          <a:stretch>
            <a:fillRect/>
          </a:stretch>
        </p:blipFill>
        <p:spPr>
          <a:xfrm>
            <a:off x="1945836" y="1632155"/>
            <a:ext cx="8300328" cy="4185897"/>
          </a:xfrm>
          <a:prstGeom prst="rect">
            <a:avLst/>
          </a:prstGeom>
        </p:spPr>
      </p:pic>
    </p:spTree>
    <p:extLst>
      <p:ext uri="{BB962C8B-B14F-4D97-AF65-F5344CB8AC3E}">
        <p14:creationId xmlns:p14="http://schemas.microsoft.com/office/powerpoint/2010/main" val="762634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5FCFF-51BE-AEB1-7B83-3DEFD0CF8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64F5C2-A0DB-D1D8-51A5-E6FECE750615}"/>
              </a:ext>
            </a:extLst>
          </p:cNvPr>
          <p:cNvSpPr>
            <a:spLocks noGrp="1"/>
          </p:cNvSpPr>
          <p:nvPr>
            <p:ph type="title"/>
          </p:nvPr>
        </p:nvSpPr>
        <p:spPr>
          <a:xfrm>
            <a:off x="176194" y="207608"/>
            <a:ext cx="11848658" cy="687127"/>
          </a:xfrm>
        </p:spPr>
        <p:txBody>
          <a:bodyPr>
            <a:normAutofit fontScale="90000"/>
          </a:bodyPr>
          <a:lstStyle/>
          <a:p>
            <a:r>
              <a:rPr lang="en-IN" dirty="0"/>
              <a:t>Comprehensive HQL analysis scripts for HIVE:</a:t>
            </a:r>
          </a:p>
        </p:txBody>
      </p:sp>
      <p:sp>
        <p:nvSpPr>
          <p:cNvPr id="3" name="Content Placeholder 2">
            <a:extLst>
              <a:ext uri="{FF2B5EF4-FFF2-40B4-BE49-F238E27FC236}">
                <a16:creationId xmlns:a16="http://schemas.microsoft.com/office/drawing/2014/main" id="{742B2491-C9AC-D1F6-96BA-18A5C49D9969}"/>
              </a:ext>
            </a:extLst>
          </p:cNvPr>
          <p:cNvSpPr>
            <a:spLocks noGrp="1"/>
          </p:cNvSpPr>
          <p:nvPr>
            <p:ph idx="1"/>
          </p:nvPr>
        </p:nvSpPr>
        <p:spPr>
          <a:xfrm>
            <a:off x="176193" y="1396182"/>
            <a:ext cx="11848657" cy="5161934"/>
          </a:xfrm>
        </p:spPr>
        <p:txBody>
          <a:bodyPr/>
          <a:lstStyle/>
          <a:p>
            <a:pPr marL="0" indent="0">
              <a:buNone/>
            </a:pPr>
            <a:endParaRPr lang="en-US" dirty="0"/>
          </a:p>
          <a:p>
            <a:endParaRPr lang="en-IN" dirty="0"/>
          </a:p>
        </p:txBody>
      </p:sp>
      <p:pic>
        <p:nvPicPr>
          <p:cNvPr id="5" name="Picture 4">
            <a:extLst>
              <a:ext uri="{FF2B5EF4-FFF2-40B4-BE49-F238E27FC236}">
                <a16:creationId xmlns:a16="http://schemas.microsoft.com/office/drawing/2014/main" id="{F86A3C18-0921-F4DC-1B29-81822FF6C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8475" y="1315064"/>
            <a:ext cx="5464012" cy="3738535"/>
          </a:xfrm>
          <a:prstGeom prst="rect">
            <a:avLst/>
          </a:prstGeom>
        </p:spPr>
      </p:pic>
      <p:pic>
        <p:nvPicPr>
          <p:cNvPr id="9" name="Picture 8">
            <a:extLst>
              <a:ext uri="{FF2B5EF4-FFF2-40B4-BE49-F238E27FC236}">
                <a16:creationId xmlns:a16="http://schemas.microsoft.com/office/drawing/2014/main" id="{AAFD82F2-1AC7-32A9-58B0-98B968146B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78475" y="5053599"/>
            <a:ext cx="5464013" cy="1379340"/>
          </a:xfrm>
          <a:prstGeom prst="rect">
            <a:avLst/>
          </a:prstGeom>
        </p:spPr>
      </p:pic>
    </p:spTree>
    <p:extLst>
      <p:ext uri="{BB962C8B-B14F-4D97-AF65-F5344CB8AC3E}">
        <p14:creationId xmlns:p14="http://schemas.microsoft.com/office/powerpoint/2010/main" val="1817083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67AC1-3988-173D-A6AE-A77136BC4F3F}"/>
              </a:ext>
            </a:extLst>
          </p:cNvPr>
          <p:cNvSpPr>
            <a:spLocks noGrp="1"/>
          </p:cNvSpPr>
          <p:nvPr>
            <p:ph type="title"/>
          </p:nvPr>
        </p:nvSpPr>
        <p:spPr>
          <a:xfrm>
            <a:off x="2231136" y="197776"/>
            <a:ext cx="7729728" cy="795282"/>
          </a:xfrm>
        </p:spPr>
        <p:txBody>
          <a:bodyPr>
            <a:normAutofit fontScale="90000"/>
          </a:bodyPr>
          <a:lstStyle/>
          <a:p>
            <a:r>
              <a:rPr lang="en-IN" dirty="0"/>
              <a:t>1.Basic statistics and aggregations</a:t>
            </a:r>
          </a:p>
        </p:txBody>
      </p:sp>
      <p:pic>
        <p:nvPicPr>
          <p:cNvPr id="11" name="Picture 10">
            <a:extLst>
              <a:ext uri="{FF2B5EF4-FFF2-40B4-BE49-F238E27FC236}">
                <a16:creationId xmlns:a16="http://schemas.microsoft.com/office/drawing/2014/main" id="{BBD4F944-156A-577A-BB28-F1DBB9DF27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6408" y="1596900"/>
            <a:ext cx="6739183" cy="1832100"/>
          </a:xfrm>
          <a:prstGeom prst="rect">
            <a:avLst/>
          </a:prstGeom>
        </p:spPr>
      </p:pic>
      <p:pic>
        <p:nvPicPr>
          <p:cNvPr id="13" name="Picture 12">
            <a:extLst>
              <a:ext uri="{FF2B5EF4-FFF2-40B4-BE49-F238E27FC236}">
                <a16:creationId xmlns:a16="http://schemas.microsoft.com/office/drawing/2014/main" id="{A79A58F3-6E26-9232-7C89-75E3C7BFBC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8787" y="4032842"/>
            <a:ext cx="6746804" cy="1409972"/>
          </a:xfrm>
          <a:prstGeom prst="rect">
            <a:avLst/>
          </a:prstGeom>
        </p:spPr>
      </p:pic>
      <p:cxnSp>
        <p:nvCxnSpPr>
          <p:cNvPr id="20" name="Straight Arrow Connector 19">
            <a:extLst>
              <a:ext uri="{FF2B5EF4-FFF2-40B4-BE49-F238E27FC236}">
                <a16:creationId xmlns:a16="http://schemas.microsoft.com/office/drawing/2014/main" id="{D9C3B1F4-2023-1354-4A71-5D8F90ABAE06}"/>
              </a:ext>
            </a:extLst>
          </p:cNvPr>
          <p:cNvCxnSpPr/>
          <p:nvPr/>
        </p:nvCxnSpPr>
        <p:spPr>
          <a:xfrm>
            <a:off x="5958348" y="3429000"/>
            <a:ext cx="0" cy="5235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10141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8309C-CC62-E922-85B3-029186EAC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A34FD9-7F3B-FAF1-CC37-50CF86E5A3FE}"/>
              </a:ext>
            </a:extLst>
          </p:cNvPr>
          <p:cNvSpPr>
            <a:spLocks noGrp="1"/>
          </p:cNvSpPr>
          <p:nvPr>
            <p:ph type="title"/>
          </p:nvPr>
        </p:nvSpPr>
        <p:spPr>
          <a:xfrm>
            <a:off x="1037302" y="198473"/>
            <a:ext cx="10117394" cy="795282"/>
          </a:xfrm>
        </p:spPr>
        <p:txBody>
          <a:bodyPr>
            <a:normAutofit/>
          </a:bodyPr>
          <a:lstStyle/>
          <a:p>
            <a:r>
              <a:rPr lang="en-IN" dirty="0"/>
              <a:t>2. Component-wise Incident Rate Analysis</a:t>
            </a:r>
          </a:p>
        </p:txBody>
      </p:sp>
      <p:pic>
        <p:nvPicPr>
          <p:cNvPr id="6" name="Content Placeholder 5">
            <a:extLst>
              <a:ext uri="{FF2B5EF4-FFF2-40B4-BE49-F238E27FC236}">
                <a16:creationId xmlns:a16="http://schemas.microsoft.com/office/drawing/2014/main" id="{12DB0B4C-E26E-F13E-48EC-62C358CF44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74997" y="1325701"/>
            <a:ext cx="6442005" cy="1663305"/>
          </a:xfrm>
        </p:spPr>
      </p:pic>
      <p:pic>
        <p:nvPicPr>
          <p:cNvPr id="8" name="Picture 7">
            <a:extLst>
              <a:ext uri="{FF2B5EF4-FFF2-40B4-BE49-F238E27FC236}">
                <a16:creationId xmlns:a16="http://schemas.microsoft.com/office/drawing/2014/main" id="{80692FB3-8FC3-BAF9-34A6-FEB23154E5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4997" y="3718593"/>
            <a:ext cx="6442005" cy="1715384"/>
          </a:xfrm>
          <a:prstGeom prst="rect">
            <a:avLst/>
          </a:prstGeom>
        </p:spPr>
      </p:pic>
      <p:cxnSp>
        <p:nvCxnSpPr>
          <p:cNvPr id="7" name="Straight Arrow Connector 6">
            <a:extLst>
              <a:ext uri="{FF2B5EF4-FFF2-40B4-BE49-F238E27FC236}">
                <a16:creationId xmlns:a16="http://schemas.microsoft.com/office/drawing/2014/main" id="{EEE15F6F-7B68-0979-3A90-A1A6FB304EAB}"/>
              </a:ext>
            </a:extLst>
          </p:cNvPr>
          <p:cNvCxnSpPr>
            <a:cxnSpLocks/>
          </p:cNvCxnSpPr>
          <p:nvPr/>
        </p:nvCxnSpPr>
        <p:spPr>
          <a:xfrm>
            <a:off x="6096000" y="3146323"/>
            <a:ext cx="0" cy="4031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99005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26B0F-1FC7-579A-0DE4-29BEEC3CA27C}"/>
              </a:ext>
            </a:extLst>
          </p:cNvPr>
          <p:cNvSpPr>
            <a:spLocks noGrp="1"/>
          </p:cNvSpPr>
          <p:nvPr>
            <p:ph type="title"/>
          </p:nvPr>
        </p:nvSpPr>
        <p:spPr>
          <a:xfrm>
            <a:off x="2231136" y="237104"/>
            <a:ext cx="7729728" cy="765785"/>
          </a:xfrm>
        </p:spPr>
        <p:txBody>
          <a:bodyPr>
            <a:normAutofit/>
          </a:bodyPr>
          <a:lstStyle/>
          <a:p>
            <a:r>
              <a:rPr lang="en-IN" dirty="0"/>
              <a:t>3.Time Window Analysis</a:t>
            </a:r>
          </a:p>
        </p:txBody>
      </p:sp>
      <p:pic>
        <p:nvPicPr>
          <p:cNvPr id="5" name="Content Placeholder 4">
            <a:extLst>
              <a:ext uri="{FF2B5EF4-FFF2-40B4-BE49-F238E27FC236}">
                <a16:creationId xmlns:a16="http://schemas.microsoft.com/office/drawing/2014/main" id="{5F5607F3-9DA2-EF6A-D0E0-3610AE8FCBD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0265" y="1546454"/>
            <a:ext cx="8171469" cy="1609701"/>
          </a:xfrm>
        </p:spPr>
      </p:pic>
      <p:pic>
        <p:nvPicPr>
          <p:cNvPr id="7" name="Picture 6">
            <a:extLst>
              <a:ext uri="{FF2B5EF4-FFF2-40B4-BE49-F238E27FC236}">
                <a16:creationId xmlns:a16="http://schemas.microsoft.com/office/drawing/2014/main" id="{86CAB694-A479-36B4-9B7B-3E6897A387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265" y="3961995"/>
            <a:ext cx="8171469" cy="1209774"/>
          </a:xfrm>
          <a:prstGeom prst="rect">
            <a:avLst/>
          </a:prstGeom>
        </p:spPr>
      </p:pic>
      <p:cxnSp>
        <p:nvCxnSpPr>
          <p:cNvPr id="9" name="Straight Arrow Connector 8">
            <a:extLst>
              <a:ext uri="{FF2B5EF4-FFF2-40B4-BE49-F238E27FC236}">
                <a16:creationId xmlns:a16="http://schemas.microsoft.com/office/drawing/2014/main" id="{85069E89-076C-7BF0-4D31-C1C5EC31AFF4}"/>
              </a:ext>
            </a:extLst>
          </p:cNvPr>
          <p:cNvCxnSpPr/>
          <p:nvPr/>
        </p:nvCxnSpPr>
        <p:spPr>
          <a:xfrm>
            <a:off x="5909187" y="3244645"/>
            <a:ext cx="0" cy="6194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9907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44C1-219F-7AA2-FA19-EBAC16B9AFE4}"/>
              </a:ext>
            </a:extLst>
          </p:cNvPr>
          <p:cNvSpPr>
            <a:spLocks noGrp="1"/>
          </p:cNvSpPr>
          <p:nvPr>
            <p:ph type="title"/>
          </p:nvPr>
        </p:nvSpPr>
        <p:spPr>
          <a:xfrm>
            <a:off x="2231136" y="342355"/>
            <a:ext cx="7729728" cy="775618"/>
          </a:xfrm>
        </p:spPr>
        <p:txBody>
          <a:bodyPr/>
          <a:lstStyle/>
          <a:p>
            <a:r>
              <a:rPr lang="en-IN" dirty="0"/>
              <a:t>4.Component-wise Feature Analysis</a:t>
            </a:r>
          </a:p>
        </p:txBody>
      </p:sp>
      <p:pic>
        <p:nvPicPr>
          <p:cNvPr id="5" name="Content Placeholder 4">
            <a:extLst>
              <a:ext uri="{FF2B5EF4-FFF2-40B4-BE49-F238E27FC236}">
                <a16:creationId xmlns:a16="http://schemas.microsoft.com/office/drawing/2014/main" id="{886F1A34-1CF0-5EEA-264F-7A45E2A7595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0196" y="1439527"/>
            <a:ext cx="7171607" cy="2336059"/>
          </a:xfrm>
        </p:spPr>
      </p:pic>
      <p:cxnSp>
        <p:nvCxnSpPr>
          <p:cNvPr id="9" name="Straight Arrow Connector 8">
            <a:extLst>
              <a:ext uri="{FF2B5EF4-FFF2-40B4-BE49-F238E27FC236}">
                <a16:creationId xmlns:a16="http://schemas.microsoft.com/office/drawing/2014/main" id="{555CED37-C520-27F6-BB69-F633377E2CF2}"/>
              </a:ext>
            </a:extLst>
          </p:cNvPr>
          <p:cNvCxnSpPr/>
          <p:nvPr/>
        </p:nvCxnSpPr>
        <p:spPr>
          <a:xfrm>
            <a:off x="6095999" y="3854246"/>
            <a:ext cx="0" cy="3932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4" name="Picture 3">
            <a:extLst>
              <a:ext uri="{FF2B5EF4-FFF2-40B4-BE49-F238E27FC236}">
                <a16:creationId xmlns:a16="http://schemas.microsoft.com/office/drawing/2014/main" id="{2E7A975A-7EDA-34C3-9353-85E903884F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0021" y="4326196"/>
            <a:ext cx="6691955" cy="2451598"/>
          </a:xfrm>
          <a:prstGeom prst="rect">
            <a:avLst/>
          </a:prstGeom>
        </p:spPr>
      </p:pic>
    </p:spTree>
    <p:extLst>
      <p:ext uri="{BB962C8B-B14F-4D97-AF65-F5344CB8AC3E}">
        <p14:creationId xmlns:p14="http://schemas.microsoft.com/office/powerpoint/2010/main" val="2748980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B9C7E-9B4A-ADCB-F11A-74E2831A6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9790BE-5EE0-264C-D43E-BB796CE2CCEF}"/>
              </a:ext>
            </a:extLst>
          </p:cNvPr>
          <p:cNvSpPr>
            <a:spLocks noGrp="1"/>
          </p:cNvSpPr>
          <p:nvPr>
            <p:ph type="title"/>
          </p:nvPr>
        </p:nvSpPr>
        <p:spPr>
          <a:xfrm>
            <a:off x="438820" y="370180"/>
            <a:ext cx="11248102" cy="775618"/>
          </a:xfrm>
        </p:spPr>
        <p:txBody>
          <a:bodyPr>
            <a:normAutofit fontScale="90000"/>
          </a:bodyPr>
          <a:lstStyle/>
          <a:p>
            <a:r>
              <a:rPr lang="en-US" dirty="0"/>
              <a:t>5.High Risk Time Windows (where incidents occurred)</a:t>
            </a:r>
            <a:endParaRPr lang="en-IN" dirty="0"/>
          </a:p>
        </p:txBody>
      </p:sp>
      <p:cxnSp>
        <p:nvCxnSpPr>
          <p:cNvPr id="9" name="Straight Arrow Connector 8">
            <a:extLst>
              <a:ext uri="{FF2B5EF4-FFF2-40B4-BE49-F238E27FC236}">
                <a16:creationId xmlns:a16="http://schemas.microsoft.com/office/drawing/2014/main" id="{D0C6B96A-900C-BCD1-D152-FFDEB5EDCD64}"/>
              </a:ext>
            </a:extLst>
          </p:cNvPr>
          <p:cNvCxnSpPr/>
          <p:nvPr/>
        </p:nvCxnSpPr>
        <p:spPr>
          <a:xfrm>
            <a:off x="6095999" y="3814916"/>
            <a:ext cx="0" cy="3932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AC575C7D-5D49-C8CC-8C2D-6B02253923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5229" y="1641522"/>
            <a:ext cx="7881541" cy="1986581"/>
          </a:xfrm>
          <a:prstGeom prst="rect">
            <a:avLst/>
          </a:prstGeom>
        </p:spPr>
      </p:pic>
      <p:pic>
        <p:nvPicPr>
          <p:cNvPr id="11" name="Picture 10">
            <a:extLst>
              <a:ext uri="{FF2B5EF4-FFF2-40B4-BE49-F238E27FC236}">
                <a16:creationId xmlns:a16="http://schemas.microsoft.com/office/drawing/2014/main" id="{52AF8DB9-FD17-ACFD-ED40-16E80F8900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8970" y="4424036"/>
            <a:ext cx="7947802" cy="1373294"/>
          </a:xfrm>
          <a:prstGeom prst="rect">
            <a:avLst/>
          </a:prstGeom>
        </p:spPr>
      </p:pic>
    </p:spTree>
    <p:extLst>
      <p:ext uri="{BB962C8B-B14F-4D97-AF65-F5344CB8AC3E}">
        <p14:creationId xmlns:p14="http://schemas.microsoft.com/office/powerpoint/2010/main" val="1710348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C91C7-8F88-38E7-2880-16F0CDC76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70BAB-DC5C-06A2-B8AA-87AD3A4FDB43}"/>
              </a:ext>
            </a:extLst>
          </p:cNvPr>
          <p:cNvSpPr>
            <a:spLocks noGrp="1"/>
          </p:cNvSpPr>
          <p:nvPr>
            <p:ph type="title"/>
          </p:nvPr>
        </p:nvSpPr>
        <p:spPr>
          <a:xfrm>
            <a:off x="1022552" y="266602"/>
            <a:ext cx="10146890" cy="775618"/>
          </a:xfrm>
        </p:spPr>
        <p:txBody>
          <a:bodyPr>
            <a:normAutofit fontScale="90000"/>
          </a:bodyPr>
          <a:lstStyle/>
          <a:p>
            <a:r>
              <a:rPr lang="en-US" dirty="0"/>
              <a:t>6. Correlation Analysis (using window functions)</a:t>
            </a:r>
            <a:endParaRPr lang="en-IN" dirty="0"/>
          </a:p>
        </p:txBody>
      </p:sp>
      <p:cxnSp>
        <p:nvCxnSpPr>
          <p:cNvPr id="9" name="Straight Arrow Connector 8">
            <a:extLst>
              <a:ext uri="{FF2B5EF4-FFF2-40B4-BE49-F238E27FC236}">
                <a16:creationId xmlns:a16="http://schemas.microsoft.com/office/drawing/2014/main" id="{DC2AA0B4-B209-3127-498D-58BFCDEB22A5}"/>
              </a:ext>
            </a:extLst>
          </p:cNvPr>
          <p:cNvCxnSpPr/>
          <p:nvPr/>
        </p:nvCxnSpPr>
        <p:spPr>
          <a:xfrm>
            <a:off x="6095992" y="4011561"/>
            <a:ext cx="0" cy="3932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AA0DC4EB-32BE-2DB6-971E-C65317E461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1982" y="1266117"/>
            <a:ext cx="6668021" cy="2669030"/>
          </a:xfrm>
          <a:prstGeom prst="rect">
            <a:avLst/>
          </a:prstGeom>
        </p:spPr>
      </p:pic>
      <p:pic>
        <p:nvPicPr>
          <p:cNvPr id="11" name="Picture 10">
            <a:extLst>
              <a:ext uri="{FF2B5EF4-FFF2-40B4-BE49-F238E27FC236}">
                <a16:creationId xmlns:a16="http://schemas.microsoft.com/office/drawing/2014/main" id="{59486C07-B3EC-1346-E9B1-2AE7FB582C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2856" y="4481265"/>
            <a:ext cx="6607147" cy="1943836"/>
          </a:xfrm>
          <a:prstGeom prst="rect">
            <a:avLst/>
          </a:prstGeom>
        </p:spPr>
      </p:pic>
    </p:spTree>
    <p:extLst>
      <p:ext uri="{BB962C8B-B14F-4D97-AF65-F5344CB8AC3E}">
        <p14:creationId xmlns:p14="http://schemas.microsoft.com/office/powerpoint/2010/main" val="36992805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B7A8C-AF3F-C33A-0D11-A8D5BBA5F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A1BC7-E3B5-1F50-C996-9C87D7A17A8B}"/>
              </a:ext>
            </a:extLst>
          </p:cNvPr>
          <p:cNvSpPr>
            <a:spLocks noGrp="1"/>
          </p:cNvSpPr>
          <p:nvPr>
            <p:ph type="title"/>
          </p:nvPr>
        </p:nvSpPr>
        <p:spPr>
          <a:xfrm>
            <a:off x="1141322" y="151089"/>
            <a:ext cx="9891252" cy="775618"/>
          </a:xfrm>
        </p:spPr>
        <p:txBody>
          <a:bodyPr>
            <a:normAutofit/>
          </a:bodyPr>
          <a:lstStyle/>
          <a:p>
            <a:r>
              <a:rPr lang="en-US" dirty="0"/>
              <a:t>7. Export final summary table for ML features</a:t>
            </a:r>
            <a:endParaRPr lang="en-IN" dirty="0"/>
          </a:p>
        </p:txBody>
      </p:sp>
      <p:pic>
        <p:nvPicPr>
          <p:cNvPr id="4" name="Picture 3">
            <a:extLst>
              <a:ext uri="{FF2B5EF4-FFF2-40B4-BE49-F238E27FC236}">
                <a16:creationId xmlns:a16="http://schemas.microsoft.com/office/drawing/2014/main" id="{BC48436C-7C34-19E9-24F0-15832E9807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2866" y="1037200"/>
            <a:ext cx="6286685" cy="2625764"/>
          </a:xfrm>
          <a:prstGeom prst="rect">
            <a:avLst/>
          </a:prstGeom>
        </p:spPr>
      </p:pic>
      <p:pic>
        <p:nvPicPr>
          <p:cNvPr id="6" name="Picture 5">
            <a:extLst>
              <a:ext uri="{FF2B5EF4-FFF2-40B4-BE49-F238E27FC236}">
                <a16:creationId xmlns:a16="http://schemas.microsoft.com/office/drawing/2014/main" id="{6720C8C3-6E13-722B-9DE0-3BC5F6104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4345" y="3773457"/>
            <a:ext cx="6285206" cy="1073294"/>
          </a:xfrm>
          <a:prstGeom prst="rect">
            <a:avLst/>
          </a:prstGeom>
        </p:spPr>
      </p:pic>
      <p:pic>
        <p:nvPicPr>
          <p:cNvPr id="10" name="Picture 9">
            <a:extLst>
              <a:ext uri="{FF2B5EF4-FFF2-40B4-BE49-F238E27FC236}">
                <a16:creationId xmlns:a16="http://schemas.microsoft.com/office/drawing/2014/main" id="{91349E44-4BB6-61F9-5079-705A31FFC3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0967" y="5024520"/>
            <a:ext cx="6268584" cy="1592559"/>
          </a:xfrm>
          <a:prstGeom prst="rect">
            <a:avLst/>
          </a:prstGeom>
        </p:spPr>
      </p:pic>
    </p:spTree>
    <p:extLst>
      <p:ext uri="{BB962C8B-B14F-4D97-AF65-F5344CB8AC3E}">
        <p14:creationId xmlns:p14="http://schemas.microsoft.com/office/powerpoint/2010/main" val="3720682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F8C3F-4A48-4520-35FE-3CF58CBA1A93}"/>
              </a:ext>
            </a:extLst>
          </p:cNvPr>
          <p:cNvSpPr>
            <a:spLocks noGrp="1"/>
          </p:cNvSpPr>
          <p:nvPr>
            <p:ph type="title"/>
          </p:nvPr>
        </p:nvSpPr>
        <p:spPr>
          <a:xfrm>
            <a:off x="1451579" y="521110"/>
            <a:ext cx="9603275" cy="614889"/>
          </a:xfrm>
        </p:spPr>
        <p:txBody>
          <a:bodyPr>
            <a:normAutofit fontScale="90000"/>
          </a:bodyPr>
          <a:lstStyle/>
          <a:p>
            <a:r>
              <a:rPr lang="en-IN" dirty="0" err="1"/>
              <a:t>PySPARk</a:t>
            </a:r>
            <a:r>
              <a:rPr lang="en-IN" dirty="0"/>
              <a:t> analysis</a:t>
            </a:r>
          </a:p>
        </p:txBody>
      </p:sp>
      <p:sp>
        <p:nvSpPr>
          <p:cNvPr id="3" name="Content Placeholder 2">
            <a:extLst>
              <a:ext uri="{FF2B5EF4-FFF2-40B4-BE49-F238E27FC236}">
                <a16:creationId xmlns:a16="http://schemas.microsoft.com/office/drawing/2014/main" id="{0C322763-8F61-7761-7E89-CFCF45394348}"/>
              </a:ext>
            </a:extLst>
          </p:cNvPr>
          <p:cNvSpPr>
            <a:spLocks noGrp="1"/>
          </p:cNvSpPr>
          <p:nvPr>
            <p:ph idx="1"/>
          </p:nvPr>
        </p:nvSpPr>
        <p:spPr>
          <a:xfrm>
            <a:off x="596172" y="1494622"/>
            <a:ext cx="9603275" cy="4842268"/>
          </a:xfrm>
        </p:spPr>
        <p:txBody>
          <a:bodyPr>
            <a:normAutofit/>
          </a:bodyPr>
          <a:lstStyle/>
          <a:p>
            <a:r>
              <a:rPr lang="en-US" sz="2400" dirty="0">
                <a:latin typeface="Times New Roman" panose="02020603050405020304" pitchFamily="18" charset="0"/>
                <a:cs typeface="Times New Roman" panose="02020603050405020304" pitchFamily="18" charset="0"/>
              </a:rPr>
              <a:t>Exploratory Data Analysis (EDA) for HDFS Features Dataset</a:t>
            </a:r>
            <a:endParaRPr lang="en-US" sz="20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Comprehensive EDA with visualizations:</a:t>
            </a:r>
          </a:p>
          <a:p>
            <a:pPr lvl="1"/>
            <a:r>
              <a:rPr lang="en-IN" sz="2000" dirty="0">
                <a:latin typeface="Times New Roman" panose="02020603050405020304" pitchFamily="18" charset="0"/>
                <a:cs typeface="Times New Roman" panose="02020603050405020304" pitchFamily="18" charset="0"/>
              </a:rPr>
              <a:t>Dataset overview and statistics</a:t>
            </a:r>
          </a:p>
          <a:p>
            <a:pPr lvl="1"/>
            <a:r>
              <a:rPr lang="en-IN" sz="2000" dirty="0">
                <a:latin typeface="Times New Roman" panose="02020603050405020304" pitchFamily="18" charset="0"/>
                <a:cs typeface="Times New Roman" panose="02020603050405020304" pitchFamily="18" charset="0"/>
              </a:rPr>
              <a:t>Target variable analysis</a:t>
            </a:r>
          </a:p>
          <a:p>
            <a:pPr lvl="1"/>
            <a:r>
              <a:rPr lang="en-IN" sz="2000" dirty="0">
                <a:latin typeface="Times New Roman" panose="02020603050405020304" pitchFamily="18" charset="0"/>
                <a:cs typeface="Times New Roman" panose="02020603050405020304" pitchFamily="18" charset="0"/>
              </a:rPr>
              <a:t>Component distribution analysis</a:t>
            </a:r>
          </a:p>
          <a:p>
            <a:pPr lvl="1"/>
            <a:r>
              <a:rPr lang="en-IN" sz="2000" dirty="0">
                <a:latin typeface="Times New Roman" panose="02020603050405020304" pitchFamily="18" charset="0"/>
                <a:cs typeface="Times New Roman" panose="02020603050405020304" pitchFamily="18" charset="0"/>
              </a:rPr>
              <a:t>Feature distributions and correlations</a:t>
            </a:r>
          </a:p>
          <a:p>
            <a:pPr lvl="1"/>
            <a:r>
              <a:rPr lang="en-IN" sz="2000" dirty="0">
                <a:latin typeface="Times New Roman" panose="02020603050405020304" pitchFamily="18" charset="0"/>
                <a:cs typeface="Times New Roman" panose="02020603050405020304" pitchFamily="18" charset="0"/>
              </a:rPr>
              <a:t>Time-based pattern analysis</a:t>
            </a:r>
          </a:p>
          <a:p>
            <a:pPr lvl="1"/>
            <a:r>
              <a:rPr lang="en-IN" sz="2000" dirty="0">
                <a:latin typeface="Times New Roman" panose="02020603050405020304" pitchFamily="18" charset="0"/>
                <a:cs typeface="Times New Roman" panose="02020603050405020304" pitchFamily="18" charset="0"/>
              </a:rPr>
              <a:t>Incident vs features relationship analysis</a:t>
            </a:r>
          </a:p>
        </p:txBody>
      </p:sp>
      <p:pic>
        <p:nvPicPr>
          <p:cNvPr id="8194" name="Picture 2" descr="Magnifying glass over stock market analysis chart photo">
            <a:extLst>
              <a:ext uri="{FF2B5EF4-FFF2-40B4-BE49-F238E27FC236}">
                <a16:creationId xmlns:a16="http://schemas.microsoft.com/office/drawing/2014/main" id="{82AFE7F6-B6A6-6286-9786-9C778D7244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9897" y="2078048"/>
            <a:ext cx="4948544" cy="2701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559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78455-2343-C2C5-139C-E88FF7F4EB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EA946-E550-DB9E-BB49-49A9054DE5B3}"/>
              </a:ext>
            </a:extLst>
          </p:cNvPr>
          <p:cNvSpPr>
            <a:spLocks noGrp="1"/>
          </p:cNvSpPr>
          <p:nvPr>
            <p:ph type="title"/>
          </p:nvPr>
        </p:nvSpPr>
        <p:spPr>
          <a:xfrm>
            <a:off x="1406013" y="335428"/>
            <a:ext cx="9026013" cy="608469"/>
          </a:xfrm>
        </p:spPr>
        <p:txBody>
          <a:bodyPr>
            <a:normAutofit fontScale="90000"/>
          </a:bodyPr>
          <a:lstStyle/>
          <a:p>
            <a:r>
              <a:rPr lang="en-IN" dirty="0">
                <a:latin typeface="Times New Roman" panose="02020603050405020304" pitchFamily="18" charset="0"/>
                <a:cs typeface="Times New Roman" panose="02020603050405020304" pitchFamily="18" charset="0"/>
              </a:rPr>
              <a:t>Comprehensive EDA with visualizations</a:t>
            </a:r>
            <a:endParaRPr lang="en-IN" dirty="0"/>
          </a:p>
        </p:txBody>
      </p:sp>
      <p:sp>
        <p:nvSpPr>
          <p:cNvPr id="3" name="Content Placeholder 2">
            <a:extLst>
              <a:ext uri="{FF2B5EF4-FFF2-40B4-BE49-F238E27FC236}">
                <a16:creationId xmlns:a16="http://schemas.microsoft.com/office/drawing/2014/main" id="{3E52763A-A9C8-830F-811F-6F592693F4A7}"/>
              </a:ext>
            </a:extLst>
          </p:cNvPr>
          <p:cNvSpPr>
            <a:spLocks noGrp="1"/>
          </p:cNvSpPr>
          <p:nvPr>
            <p:ph idx="1"/>
          </p:nvPr>
        </p:nvSpPr>
        <p:spPr>
          <a:xfrm>
            <a:off x="500658" y="1143541"/>
            <a:ext cx="7729728" cy="3101983"/>
          </a:xfrm>
        </p:spPr>
        <p:txBody>
          <a:bodyPr>
            <a:normAutofit/>
          </a:bodyPr>
          <a:lstStyle/>
          <a:p>
            <a:r>
              <a:rPr lang="en-US" sz="2000" dirty="0"/>
              <a:t>1. Dataset overview and statistics</a:t>
            </a:r>
            <a:endParaRPr lang="en-IN" sz="2000" dirty="0"/>
          </a:p>
        </p:txBody>
      </p:sp>
      <p:pic>
        <p:nvPicPr>
          <p:cNvPr id="6" name="Picture 5">
            <a:extLst>
              <a:ext uri="{FF2B5EF4-FFF2-40B4-BE49-F238E27FC236}">
                <a16:creationId xmlns:a16="http://schemas.microsoft.com/office/drawing/2014/main" id="{B456721A-48AA-CF8D-EAC7-D77852EF86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032" y="1795145"/>
            <a:ext cx="10835936" cy="4900758"/>
          </a:xfrm>
          <a:prstGeom prst="rect">
            <a:avLst/>
          </a:prstGeom>
        </p:spPr>
      </p:pic>
    </p:spTree>
    <p:extLst>
      <p:ext uri="{BB962C8B-B14F-4D97-AF65-F5344CB8AC3E}">
        <p14:creationId xmlns:p14="http://schemas.microsoft.com/office/powerpoint/2010/main" val="3449658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14165-983D-F69A-28D2-2311F1B44A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D68E0E-8823-6087-6E38-7458A0D269AF}"/>
              </a:ext>
            </a:extLst>
          </p:cNvPr>
          <p:cNvSpPr>
            <a:spLocks noGrp="1"/>
          </p:cNvSpPr>
          <p:nvPr>
            <p:ph idx="1"/>
          </p:nvPr>
        </p:nvSpPr>
        <p:spPr>
          <a:xfrm>
            <a:off x="254851" y="170148"/>
            <a:ext cx="7729728" cy="3101983"/>
          </a:xfrm>
        </p:spPr>
        <p:txBody>
          <a:bodyPr>
            <a:normAutofit/>
          </a:bodyPr>
          <a:lstStyle/>
          <a:p>
            <a:r>
              <a:rPr lang="en-US" sz="2000" dirty="0"/>
              <a:t>2. Target variable analysis</a:t>
            </a:r>
            <a:endParaRPr lang="en-IN" sz="2000" dirty="0"/>
          </a:p>
        </p:txBody>
      </p:sp>
      <p:pic>
        <p:nvPicPr>
          <p:cNvPr id="5" name="Picture 4">
            <a:extLst>
              <a:ext uri="{FF2B5EF4-FFF2-40B4-BE49-F238E27FC236}">
                <a16:creationId xmlns:a16="http://schemas.microsoft.com/office/drawing/2014/main" id="{5153110D-64F6-1D38-4BD4-CFDBA327E0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115" y="608695"/>
            <a:ext cx="11238271" cy="6008415"/>
          </a:xfrm>
          <a:prstGeom prst="rect">
            <a:avLst/>
          </a:prstGeom>
        </p:spPr>
      </p:pic>
    </p:spTree>
    <p:extLst>
      <p:ext uri="{BB962C8B-B14F-4D97-AF65-F5344CB8AC3E}">
        <p14:creationId xmlns:p14="http://schemas.microsoft.com/office/powerpoint/2010/main" val="2451752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FE9E0-8262-E39C-6258-4FAB0D9BF6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96C3AA-55EE-244F-F695-1631B0DD89CD}"/>
              </a:ext>
            </a:extLst>
          </p:cNvPr>
          <p:cNvSpPr>
            <a:spLocks noGrp="1"/>
          </p:cNvSpPr>
          <p:nvPr>
            <p:ph idx="1"/>
          </p:nvPr>
        </p:nvSpPr>
        <p:spPr>
          <a:xfrm>
            <a:off x="480993" y="327017"/>
            <a:ext cx="7729728" cy="3101983"/>
          </a:xfrm>
        </p:spPr>
        <p:txBody>
          <a:bodyPr>
            <a:normAutofit/>
          </a:bodyPr>
          <a:lstStyle/>
          <a:p>
            <a:r>
              <a:rPr lang="en-US" sz="2000" dirty="0"/>
              <a:t>3. Component distribution analysis</a:t>
            </a:r>
            <a:endParaRPr lang="en-IN" sz="2000" dirty="0"/>
          </a:p>
        </p:txBody>
      </p:sp>
      <p:pic>
        <p:nvPicPr>
          <p:cNvPr id="5" name="Picture 4">
            <a:extLst>
              <a:ext uri="{FF2B5EF4-FFF2-40B4-BE49-F238E27FC236}">
                <a16:creationId xmlns:a16="http://schemas.microsoft.com/office/drawing/2014/main" id="{DF94A5C2-14B2-CAB8-3CF7-AD4BA4FFF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123" y="835742"/>
            <a:ext cx="11307883" cy="5865078"/>
          </a:xfrm>
          <a:prstGeom prst="rect">
            <a:avLst/>
          </a:prstGeom>
        </p:spPr>
      </p:pic>
    </p:spTree>
    <p:extLst>
      <p:ext uri="{BB962C8B-B14F-4D97-AF65-F5344CB8AC3E}">
        <p14:creationId xmlns:p14="http://schemas.microsoft.com/office/powerpoint/2010/main" val="824507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CB9A8-D1EE-4816-E2C6-402DB15798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628D2F-0032-5059-30FD-C725A40B72EE}"/>
              </a:ext>
            </a:extLst>
          </p:cNvPr>
          <p:cNvSpPr>
            <a:spLocks noGrp="1"/>
          </p:cNvSpPr>
          <p:nvPr>
            <p:ph idx="1"/>
          </p:nvPr>
        </p:nvSpPr>
        <p:spPr>
          <a:xfrm>
            <a:off x="166361" y="237105"/>
            <a:ext cx="7729728" cy="3101983"/>
          </a:xfrm>
        </p:spPr>
        <p:txBody>
          <a:bodyPr>
            <a:normAutofit/>
          </a:bodyPr>
          <a:lstStyle/>
          <a:p>
            <a:r>
              <a:rPr lang="en-US" sz="2000" dirty="0"/>
              <a:t>4. Feature distributions and correlations</a:t>
            </a:r>
            <a:endParaRPr lang="en-IN" sz="2000" dirty="0"/>
          </a:p>
        </p:txBody>
      </p:sp>
      <p:pic>
        <p:nvPicPr>
          <p:cNvPr id="5" name="Picture 4">
            <a:extLst>
              <a:ext uri="{FF2B5EF4-FFF2-40B4-BE49-F238E27FC236}">
                <a16:creationId xmlns:a16="http://schemas.microsoft.com/office/drawing/2014/main" id="{04543654-EDC9-B0FB-3AA1-82D51C8A73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912" y="698090"/>
            <a:ext cx="11701727" cy="5922805"/>
          </a:xfrm>
          <a:prstGeom prst="rect">
            <a:avLst/>
          </a:prstGeom>
        </p:spPr>
      </p:pic>
    </p:spTree>
    <p:extLst>
      <p:ext uri="{BB962C8B-B14F-4D97-AF65-F5344CB8AC3E}">
        <p14:creationId xmlns:p14="http://schemas.microsoft.com/office/powerpoint/2010/main" val="772637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DB7B9-B6D2-2387-B952-B94B7E642B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A81C16-0A32-0151-3923-D709F976766B}"/>
              </a:ext>
            </a:extLst>
          </p:cNvPr>
          <p:cNvSpPr>
            <a:spLocks noGrp="1"/>
          </p:cNvSpPr>
          <p:nvPr>
            <p:ph idx="1"/>
          </p:nvPr>
        </p:nvSpPr>
        <p:spPr>
          <a:xfrm>
            <a:off x="245019" y="327017"/>
            <a:ext cx="7729728" cy="3101983"/>
          </a:xfrm>
        </p:spPr>
        <p:txBody>
          <a:bodyPr>
            <a:normAutofit/>
          </a:bodyPr>
          <a:lstStyle/>
          <a:p>
            <a:r>
              <a:rPr lang="en-US" sz="2000" dirty="0"/>
              <a:t>5. Time-based pattern analysis</a:t>
            </a:r>
            <a:endParaRPr lang="en-IN" sz="2000" dirty="0"/>
          </a:p>
        </p:txBody>
      </p:sp>
      <p:pic>
        <p:nvPicPr>
          <p:cNvPr id="5" name="Picture 4">
            <a:extLst>
              <a:ext uri="{FF2B5EF4-FFF2-40B4-BE49-F238E27FC236}">
                <a16:creationId xmlns:a16="http://schemas.microsoft.com/office/drawing/2014/main" id="{1892ACAC-419C-1395-9FBB-87D6FD82B2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961" y="772183"/>
            <a:ext cx="11513574" cy="5953082"/>
          </a:xfrm>
          <a:prstGeom prst="rect">
            <a:avLst/>
          </a:prstGeom>
        </p:spPr>
      </p:pic>
    </p:spTree>
    <p:extLst>
      <p:ext uri="{BB962C8B-B14F-4D97-AF65-F5344CB8AC3E}">
        <p14:creationId xmlns:p14="http://schemas.microsoft.com/office/powerpoint/2010/main" val="19548791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61D02-4E6F-B00B-98D4-AFA0A0971B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EF982-8F89-B2F7-6B83-DDCF1C711AF2}"/>
              </a:ext>
            </a:extLst>
          </p:cNvPr>
          <p:cNvSpPr>
            <a:spLocks noGrp="1"/>
          </p:cNvSpPr>
          <p:nvPr>
            <p:ph idx="1"/>
          </p:nvPr>
        </p:nvSpPr>
        <p:spPr>
          <a:xfrm>
            <a:off x="0" y="101322"/>
            <a:ext cx="7729728" cy="3101983"/>
          </a:xfrm>
        </p:spPr>
        <p:txBody>
          <a:bodyPr>
            <a:normAutofit/>
          </a:bodyPr>
          <a:lstStyle/>
          <a:p>
            <a:r>
              <a:rPr lang="en-US" sz="2000" dirty="0"/>
              <a:t>6. Target variable vs features variable relationship analysis</a:t>
            </a:r>
            <a:endParaRPr lang="en-IN" sz="2000" dirty="0"/>
          </a:p>
        </p:txBody>
      </p:sp>
      <p:pic>
        <p:nvPicPr>
          <p:cNvPr id="5" name="Picture 4">
            <a:extLst>
              <a:ext uri="{FF2B5EF4-FFF2-40B4-BE49-F238E27FC236}">
                <a16:creationId xmlns:a16="http://schemas.microsoft.com/office/drawing/2014/main" id="{98E945E0-C8AF-ADA7-B227-1E85ADBB8D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806" y="609882"/>
            <a:ext cx="11720052" cy="6011014"/>
          </a:xfrm>
          <a:prstGeom prst="rect">
            <a:avLst/>
          </a:prstGeom>
        </p:spPr>
      </p:pic>
    </p:spTree>
    <p:extLst>
      <p:ext uri="{BB962C8B-B14F-4D97-AF65-F5344CB8AC3E}">
        <p14:creationId xmlns:p14="http://schemas.microsoft.com/office/powerpoint/2010/main" val="41848153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D5317-2457-53C6-A221-8AB928D029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68548-E8F2-AD02-0B54-7E4A151CCA0C}"/>
              </a:ext>
            </a:extLst>
          </p:cNvPr>
          <p:cNvSpPr>
            <a:spLocks noGrp="1"/>
          </p:cNvSpPr>
          <p:nvPr>
            <p:ph type="title"/>
          </p:nvPr>
        </p:nvSpPr>
        <p:spPr>
          <a:xfrm>
            <a:off x="2231136" y="237105"/>
            <a:ext cx="7729728" cy="608469"/>
          </a:xfrm>
        </p:spPr>
        <p:txBody>
          <a:bodyPr>
            <a:normAutofit fontScale="90000"/>
          </a:bodyPr>
          <a:lstStyle/>
          <a:p>
            <a:r>
              <a:rPr lang="en-US" dirty="0"/>
              <a:t>EDA Report</a:t>
            </a:r>
            <a:endParaRPr lang="en-IN" dirty="0"/>
          </a:p>
        </p:txBody>
      </p:sp>
      <p:pic>
        <p:nvPicPr>
          <p:cNvPr id="6" name="Picture 5">
            <a:extLst>
              <a:ext uri="{FF2B5EF4-FFF2-40B4-BE49-F238E27FC236}">
                <a16:creationId xmlns:a16="http://schemas.microsoft.com/office/drawing/2014/main" id="{30A38B96-EDA9-DDBE-5995-E51E8EDB4119}"/>
              </a:ext>
            </a:extLst>
          </p:cNvPr>
          <p:cNvPicPr>
            <a:picLocks noChangeAspect="1"/>
          </p:cNvPicPr>
          <p:nvPr/>
        </p:nvPicPr>
        <p:blipFill>
          <a:blip r:embed="rId2"/>
          <a:stretch>
            <a:fillRect/>
          </a:stretch>
        </p:blipFill>
        <p:spPr>
          <a:xfrm>
            <a:off x="1580535" y="956728"/>
            <a:ext cx="9030930" cy="5804907"/>
          </a:xfrm>
          <a:prstGeom prst="rect">
            <a:avLst/>
          </a:prstGeom>
        </p:spPr>
      </p:pic>
    </p:spTree>
    <p:extLst>
      <p:ext uri="{BB962C8B-B14F-4D97-AF65-F5344CB8AC3E}">
        <p14:creationId xmlns:p14="http://schemas.microsoft.com/office/powerpoint/2010/main" val="3102813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09421-5894-8249-C145-4CF38A2A913B}"/>
              </a:ext>
            </a:extLst>
          </p:cNvPr>
          <p:cNvSpPr>
            <a:spLocks noGrp="1"/>
          </p:cNvSpPr>
          <p:nvPr>
            <p:ph type="title"/>
          </p:nvPr>
        </p:nvSpPr>
        <p:spPr>
          <a:xfrm>
            <a:off x="2231136" y="355092"/>
            <a:ext cx="7729728" cy="883773"/>
          </a:xfrm>
        </p:spPr>
        <p:txBody>
          <a:bodyPr>
            <a:noAutofit/>
          </a:bodyPr>
          <a:lstStyle/>
          <a:p>
            <a:r>
              <a:rPr lang="en-IN" sz="2400" b="1" dirty="0" err="1"/>
              <a:t>PySpark</a:t>
            </a:r>
            <a:r>
              <a:rPr lang="en-IN" sz="2400" b="1" dirty="0"/>
              <a:t> ML Model</a:t>
            </a:r>
          </a:p>
        </p:txBody>
      </p:sp>
      <p:sp>
        <p:nvSpPr>
          <p:cNvPr id="3" name="Content Placeholder 2">
            <a:extLst>
              <a:ext uri="{FF2B5EF4-FFF2-40B4-BE49-F238E27FC236}">
                <a16:creationId xmlns:a16="http://schemas.microsoft.com/office/drawing/2014/main" id="{E2E1898C-C060-C5C9-9E3A-65A097E8C53E}"/>
              </a:ext>
            </a:extLst>
          </p:cNvPr>
          <p:cNvSpPr>
            <a:spLocks noGrp="1"/>
          </p:cNvSpPr>
          <p:nvPr>
            <p:ph idx="1"/>
          </p:nvPr>
        </p:nvSpPr>
        <p:spPr>
          <a:xfrm>
            <a:off x="599768" y="1494503"/>
            <a:ext cx="7059561" cy="5122607"/>
          </a:xfrm>
        </p:spPr>
        <p:txBody>
          <a:bodyPr>
            <a:normAutofit/>
          </a:bodyPr>
          <a:lstStyle/>
          <a:p>
            <a:r>
              <a:rPr lang="en-IN" sz="2400" dirty="0">
                <a:latin typeface="Times New Roman" panose="02020603050405020304" pitchFamily="18" charset="0"/>
                <a:cs typeface="Times New Roman" panose="02020603050405020304" pitchFamily="18" charset="0"/>
              </a:rPr>
              <a:t>Machine learning models using </a:t>
            </a:r>
            <a:r>
              <a:rPr lang="en-IN" sz="2400" dirty="0" err="1">
                <a:latin typeface="Times New Roman" panose="02020603050405020304" pitchFamily="18" charset="0"/>
                <a:cs typeface="Times New Roman" panose="02020603050405020304" pitchFamily="18" charset="0"/>
              </a:rPr>
              <a:t>PySpark</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MLlib</a:t>
            </a:r>
            <a:r>
              <a:rPr lang="en-IN" sz="2400" dirty="0">
                <a:latin typeface="Times New Roman" panose="02020603050405020304" pitchFamily="18" charset="0"/>
                <a:cs typeface="Times New Roman" panose="02020603050405020304" pitchFamily="18" charset="0"/>
              </a:rPr>
              <a:t>:</a:t>
            </a:r>
          </a:p>
          <a:p>
            <a:pPr lvl="1"/>
            <a:r>
              <a:rPr lang="en-IN" sz="2000" dirty="0">
                <a:latin typeface="Times New Roman" panose="02020603050405020304" pitchFamily="18" charset="0"/>
                <a:cs typeface="Times New Roman" panose="02020603050405020304" pitchFamily="18" charset="0"/>
              </a:rPr>
              <a:t>Data preprocessing and feature engineering</a:t>
            </a:r>
          </a:p>
          <a:p>
            <a:pPr lvl="1"/>
            <a:r>
              <a:rPr lang="en-IN" sz="2000" dirty="0">
                <a:latin typeface="Times New Roman" panose="02020603050405020304" pitchFamily="18" charset="0"/>
                <a:cs typeface="Times New Roman" panose="02020603050405020304" pitchFamily="18" charset="0"/>
              </a:rPr>
              <a:t>Multiple model options: </a:t>
            </a:r>
          </a:p>
          <a:p>
            <a:pPr lvl="2"/>
            <a:r>
              <a:rPr lang="en-IN" sz="2000" dirty="0">
                <a:latin typeface="Times New Roman" panose="02020603050405020304" pitchFamily="18" charset="0"/>
                <a:cs typeface="Times New Roman" panose="02020603050405020304" pitchFamily="18" charset="0"/>
              </a:rPr>
              <a:t>Random Forest </a:t>
            </a:r>
          </a:p>
          <a:p>
            <a:pPr lvl="2"/>
            <a:r>
              <a:rPr lang="en-IN" sz="2000" dirty="0">
                <a:latin typeface="Times New Roman" panose="02020603050405020304" pitchFamily="18" charset="0"/>
                <a:cs typeface="Times New Roman" panose="02020603050405020304" pitchFamily="18" charset="0"/>
              </a:rPr>
              <a:t>Gradient Boosting </a:t>
            </a:r>
          </a:p>
          <a:p>
            <a:pPr lvl="1"/>
            <a:r>
              <a:rPr lang="en-IN" sz="2000" dirty="0">
                <a:latin typeface="Times New Roman" panose="02020603050405020304" pitchFamily="18" charset="0"/>
                <a:cs typeface="Times New Roman" panose="02020603050405020304" pitchFamily="18" charset="0"/>
              </a:rPr>
              <a:t>Model evaluation with comprehensive metrics</a:t>
            </a:r>
          </a:p>
          <a:p>
            <a:pPr lvl="1"/>
            <a:r>
              <a:rPr lang="en-IN" sz="2000" dirty="0">
                <a:latin typeface="Times New Roman" panose="02020603050405020304" pitchFamily="18" charset="0"/>
                <a:cs typeface="Times New Roman" panose="02020603050405020304" pitchFamily="18" charset="0"/>
              </a:rPr>
              <a:t>Feature importance analysis</a:t>
            </a:r>
          </a:p>
          <a:p>
            <a:pPr lvl="1"/>
            <a:r>
              <a:rPr lang="en-IN" sz="2000" dirty="0">
                <a:latin typeface="Times New Roman" panose="02020603050405020304" pitchFamily="18" charset="0"/>
                <a:cs typeface="Times New Roman" panose="02020603050405020304" pitchFamily="18" charset="0"/>
              </a:rPr>
              <a:t>Model persistence</a:t>
            </a:r>
          </a:p>
        </p:txBody>
      </p:sp>
      <p:pic>
        <p:nvPicPr>
          <p:cNvPr id="4" name="Picture 2" descr="Machine Deep learning algorithms, Artificial intelligence AI , Automation and modern technology in business as concept. Machine learning stock images, royalty-free photos and pictures">
            <a:extLst>
              <a:ext uri="{FF2B5EF4-FFF2-40B4-BE49-F238E27FC236}">
                <a16:creationId xmlns:a16="http://schemas.microsoft.com/office/drawing/2014/main" id="{545DAC38-F35C-F88D-17DF-FED7E931FB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9895" y="2460522"/>
            <a:ext cx="4834194" cy="3190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9256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ECB5A-3E51-B367-7C43-50F060883C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A8D12F-5A87-48AB-9493-E74D55A7B23A}"/>
              </a:ext>
            </a:extLst>
          </p:cNvPr>
          <p:cNvSpPr>
            <a:spLocks noGrp="1"/>
          </p:cNvSpPr>
          <p:nvPr>
            <p:ph idx="1"/>
          </p:nvPr>
        </p:nvSpPr>
        <p:spPr>
          <a:xfrm>
            <a:off x="285135" y="186813"/>
            <a:ext cx="10854813" cy="6518787"/>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Load CSV data into Spark DataFrame</a:t>
            </a:r>
          </a:p>
          <a:p>
            <a:r>
              <a:rPr lang="en-IN" sz="2400" dirty="0">
                <a:latin typeface="Times New Roman" panose="02020603050405020304" pitchFamily="18" charset="0"/>
                <a:cs typeface="Times New Roman" panose="02020603050405020304" pitchFamily="18" charset="0"/>
              </a:rPr>
              <a:t>Preprocess data for </a:t>
            </a:r>
            <a:r>
              <a:rPr lang="en-IN" sz="2400" dirty="0" err="1">
                <a:latin typeface="Times New Roman" panose="02020603050405020304" pitchFamily="18" charset="0"/>
                <a:cs typeface="Times New Roman" panose="02020603050405020304" pitchFamily="18" charset="0"/>
              </a:rPr>
              <a:t>MLSplit</a:t>
            </a:r>
            <a:r>
              <a:rPr lang="en-IN" sz="2400" dirty="0">
                <a:latin typeface="Times New Roman" panose="02020603050405020304" pitchFamily="18" charset="0"/>
                <a:cs typeface="Times New Roman" panose="02020603050405020304" pitchFamily="18" charset="0"/>
              </a:rPr>
              <a:t> dataset:- </a:t>
            </a:r>
            <a:r>
              <a:rPr lang="en-IN" sz="2000" dirty="0">
                <a:latin typeface="Times New Roman" panose="02020603050405020304" pitchFamily="18" charset="0"/>
                <a:cs typeface="Times New Roman" panose="02020603050405020304" pitchFamily="18" charset="0"/>
              </a:rPr>
              <a:t>Missing values, Feature Selection</a:t>
            </a:r>
          </a:p>
          <a:p>
            <a:r>
              <a:rPr lang="en-IN" sz="2400" dirty="0">
                <a:latin typeface="Times New Roman" panose="02020603050405020304" pitchFamily="18" charset="0"/>
                <a:cs typeface="Times New Roman" panose="02020603050405020304" pitchFamily="18" charset="0"/>
              </a:rPr>
              <a:t>Create feature engineering pipeline:- </a:t>
            </a:r>
            <a:r>
              <a:rPr lang="en-IN" sz="2000" dirty="0">
                <a:latin typeface="Times New Roman" panose="02020603050405020304" pitchFamily="18" charset="0"/>
                <a:cs typeface="Times New Roman" panose="02020603050405020304" pitchFamily="18" charset="0"/>
              </a:rPr>
              <a:t>Index Component (categorical feature), One Hot Encoding, Assembling</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Built ML models:</a:t>
            </a:r>
          </a:p>
          <a:p>
            <a:pPr lvl="1"/>
            <a:r>
              <a:rPr lang="en-IN" sz="2000" dirty="0">
                <a:latin typeface="Times New Roman" panose="02020603050405020304" pitchFamily="18" charset="0"/>
                <a:cs typeface="Times New Roman" panose="02020603050405020304" pitchFamily="18" charset="0"/>
              </a:rPr>
              <a:t>Random Forest Classifier</a:t>
            </a:r>
          </a:p>
          <a:p>
            <a:pPr lvl="1"/>
            <a:r>
              <a:rPr lang="en-IN" sz="2000" dirty="0">
                <a:latin typeface="Times New Roman" panose="02020603050405020304" pitchFamily="18" charset="0"/>
                <a:cs typeface="Times New Roman" panose="02020603050405020304" pitchFamily="18" charset="0"/>
              </a:rPr>
              <a:t>Gradient Boosting Classifier</a:t>
            </a:r>
          </a:p>
          <a:p>
            <a:r>
              <a:rPr lang="en-IN" sz="2400" dirty="0">
                <a:latin typeface="Times New Roman" panose="02020603050405020304" pitchFamily="18" charset="0"/>
                <a:cs typeface="Times New Roman" panose="02020603050405020304" pitchFamily="18" charset="0"/>
              </a:rPr>
              <a:t>Trained models on:</a:t>
            </a:r>
          </a:p>
          <a:p>
            <a:pPr lvl="1"/>
            <a:r>
              <a:rPr lang="en-IN" sz="2000" dirty="0" err="1">
                <a:latin typeface="Times New Roman" panose="02020603050405020304" pitchFamily="18" charset="0"/>
                <a:cs typeface="Times New Roman" panose="02020603050405020304" pitchFamily="18" charset="0"/>
              </a:rPr>
              <a:t>warn_count</a:t>
            </a:r>
            <a:endParaRPr lang="en-IN" sz="2000" dirty="0">
              <a:latin typeface="Times New Roman" panose="02020603050405020304" pitchFamily="18" charset="0"/>
              <a:cs typeface="Times New Roman" panose="02020603050405020304" pitchFamily="18" charset="0"/>
            </a:endParaRPr>
          </a:p>
          <a:p>
            <a:pPr lvl="1"/>
            <a:r>
              <a:rPr lang="en-IN" sz="2000" dirty="0" err="1">
                <a:latin typeface="Times New Roman" panose="02020603050405020304" pitchFamily="18" charset="0"/>
                <a:cs typeface="Times New Roman" panose="02020603050405020304" pitchFamily="18" charset="0"/>
              </a:rPr>
              <a:t>log_volume</a:t>
            </a:r>
            <a:endParaRPr lang="en-IN" sz="2000" dirty="0">
              <a:latin typeface="Times New Roman" panose="02020603050405020304" pitchFamily="18" charset="0"/>
              <a:cs typeface="Times New Roman" panose="02020603050405020304" pitchFamily="18" charset="0"/>
            </a:endParaRPr>
          </a:p>
          <a:p>
            <a:pPr lvl="1"/>
            <a:r>
              <a:rPr lang="en-IN" sz="2000" dirty="0" err="1">
                <a:latin typeface="Times New Roman" panose="02020603050405020304" pitchFamily="18" charset="0"/>
                <a:cs typeface="Times New Roman" panose="02020603050405020304" pitchFamily="18" charset="0"/>
              </a:rPr>
              <a:t>unique_event_count</a:t>
            </a:r>
            <a:endParaRPr lang="en-IN" sz="20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Predicted:</a:t>
            </a:r>
          </a:p>
          <a:p>
            <a:pPr lvl="1"/>
            <a:r>
              <a:rPr lang="en-IN" sz="2000" dirty="0">
                <a:latin typeface="Times New Roman" panose="02020603050405020304" pitchFamily="18" charset="0"/>
                <a:cs typeface="Times New Roman" panose="02020603050405020304" pitchFamily="18" charset="0"/>
              </a:rPr>
              <a:t>incident</a:t>
            </a:r>
          </a:p>
          <a:p>
            <a:r>
              <a:rPr lang="en-IN" sz="2400" dirty="0">
                <a:latin typeface="Times New Roman" panose="02020603050405020304" pitchFamily="18" charset="0"/>
                <a:cs typeface="Times New Roman" panose="02020603050405020304" pitchFamily="18" charset="0"/>
              </a:rPr>
              <a:t>Model Evaluation:</a:t>
            </a:r>
          </a:p>
          <a:p>
            <a:pPr lvl="1"/>
            <a:r>
              <a:rPr lang="en-IN" sz="2000" dirty="0">
                <a:latin typeface="Times New Roman" panose="02020603050405020304" pitchFamily="18" charset="0"/>
                <a:cs typeface="Times New Roman" panose="02020603050405020304" pitchFamily="18" charset="0"/>
              </a:rPr>
              <a:t>Accuracy, F1 score, Recall, Precision, AUC, and Confusion Matrix</a:t>
            </a:r>
          </a:p>
        </p:txBody>
      </p:sp>
    </p:spTree>
    <p:extLst>
      <p:ext uri="{BB962C8B-B14F-4D97-AF65-F5344CB8AC3E}">
        <p14:creationId xmlns:p14="http://schemas.microsoft.com/office/powerpoint/2010/main" val="5329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5C742-D5F8-F426-FED9-5EC800A26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24BDF-A57E-B631-E5C8-96A5D0F7A7C9}"/>
              </a:ext>
            </a:extLst>
          </p:cNvPr>
          <p:cNvSpPr>
            <a:spLocks noGrp="1"/>
          </p:cNvSpPr>
          <p:nvPr>
            <p:ph type="title"/>
          </p:nvPr>
        </p:nvSpPr>
        <p:spPr>
          <a:xfrm>
            <a:off x="2231136" y="78398"/>
            <a:ext cx="7729728" cy="608469"/>
          </a:xfrm>
        </p:spPr>
        <p:txBody>
          <a:bodyPr>
            <a:normAutofit fontScale="90000"/>
          </a:bodyPr>
          <a:lstStyle/>
          <a:p>
            <a:r>
              <a:rPr lang="en-US" dirty="0"/>
              <a:t>Train test split data</a:t>
            </a:r>
            <a:endParaRPr lang="en-IN" dirty="0"/>
          </a:p>
        </p:txBody>
      </p:sp>
      <p:pic>
        <p:nvPicPr>
          <p:cNvPr id="10" name="Picture 9">
            <a:extLst>
              <a:ext uri="{FF2B5EF4-FFF2-40B4-BE49-F238E27FC236}">
                <a16:creationId xmlns:a16="http://schemas.microsoft.com/office/drawing/2014/main" id="{B0FFD2B8-833B-7FD6-1616-5F015A338B7D}"/>
              </a:ext>
            </a:extLst>
          </p:cNvPr>
          <p:cNvPicPr>
            <a:picLocks noChangeAspect="1"/>
          </p:cNvPicPr>
          <p:nvPr/>
        </p:nvPicPr>
        <p:blipFill>
          <a:blip r:embed="rId2"/>
          <a:stretch>
            <a:fillRect/>
          </a:stretch>
        </p:blipFill>
        <p:spPr>
          <a:xfrm>
            <a:off x="1386348" y="4298054"/>
            <a:ext cx="9242323" cy="2403657"/>
          </a:xfrm>
          <a:prstGeom prst="rect">
            <a:avLst/>
          </a:prstGeom>
        </p:spPr>
      </p:pic>
      <p:pic>
        <p:nvPicPr>
          <p:cNvPr id="12" name="Picture 11">
            <a:extLst>
              <a:ext uri="{FF2B5EF4-FFF2-40B4-BE49-F238E27FC236}">
                <a16:creationId xmlns:a16="http://schemas.microsoft.com/office/drawing/2014/main" id="{CB099CC1-C384-3093-3F40-7E3BD18A45BB}"/>
              </a:ext>
            </a:extLst>
          </p:cNvPr>
          <p:cNvPicPr>
            <a:picLocks noChangeAspect="1"/>
          </p:cNvPicPr>
          <p:nvPr/>
        </p:nvPicPr>
        <p:blipFill>
          <a:blip r:embed="rId3"/>
          <a:srcRect b="30541"/>
          <a:stretch>
            <a:fillRect/>
          </a:stretch>
        </p:blipFill>
        <p:spPr>
          <a:xfrm>
            <a:off x="1386348" y="1368776"/>
            <a:ext cx="9242323" cy="2403657"/>
          </a:xfrm>
          <a:prstGeom prst="rect">
            <a:avLst/>
          </a:prstGeom>
        </p:spPr>
      </p:pic>
      <p:sp>
        <p:nvSpPr>
          <p:cNvPr id="13" name="TextBox 12">
            <a:extLst>
              <a:ext uri="{FF2B5EF4-FFF2-40B4-BE49-F238E27FC236}">
                <a16:creationId xmlns:a16="http://schemas.microsoft.com/office/drawing/2014/main" id="{E11E75F3-D1EC-9D16-D853-A52B90FB4F61}"/>
              </a:ext>
            </a:extLst>
          </p:cNvPr>
          <p:cNvSpPr txBox="1"/>
          <p:nvPr/>
        </p:nvSpPr>
        <p:spPr>
          <a:xfrm>
            <a:off x="4896463" y="3928722"/>
            <a:ext cx="2222091" cy="369332"/>
          </a:xfrm>
          <a:prstGeom prst="rect">
            <a:avLst/>
          </a:prstGeom>
          <a:noFill/>
        </p:spPr>
        <p:txBody>
          <a:bodyPr wrap="square" rtlCol="0">
            <a:spAutoFit/>
          </a:bodyPr>
          <a:lstStyle/>
          <a:p>
            <a:r>
              <a:rPr lang="en-US" dirty="0"/>
              <a:t>Test Split Data</a:t>
            </a:r>
            <a:endParaRPr lang="en-IN" dirty="0"/>
          </a:p>
        </p:txBody>
      </p:sp>
      <p:sp>
        <p:nvSpPr>
          <p:cNvPr id="14" name="Content Placeholder 13">
            <a:extLst>
              <a:ext uri="{FF2B5EF4-FFF2-40B4-BE49-F238E27FC236}">
                <a16:creationId xmlns:a16="http://schemas.microsoft.com/office/drawing/2014/main" id="{F8109619-CA78-C631-8E3A-45897D8A4C99}"/>
              </a:ext>
            </a:extLst>
          </p:cNvPr>
          <p:cNvSpPr txBox="1">
            <a:spLocks noGrp="1"/>
          </p:cNvSpPr>
          <p:nvPr>
            <p:ph idx="1"/>
          </p:nvPr>
        </p:nvSpPr>
        <p:spPr>
          <a:xfrm>
            <a:off x="4306529" y="969483"/>
            <a:ext cx="3932903" cy="338554"/>
          </a:xfrm>
          <a:prstGeom prst="rect">
            <a:avLst/>
          </a:prstGeom>
          <a:noFill/>
        </p:spPr>
        <p:txBody>
          <a:bodyPr wrap="square" rtlCol="0">
            <a:spAutoFit/>
          </a:bodyPr>
          <a:lstStyle/>
          <a:p>
            <a:pPr marL="685800" lvl="3" indent="0">
              <a:buNone/>
            </a:pPr>
            <a:r>
              <a:rPr lang="en-US" dirty="0"/>
              <a:t>Train Split Data</a:t>
            </a:r>
            <a:endParaRPr lang="en-IN" dirty="0"/>
          </a:p>
        </p:txBody>
      </p:sp>
    </p:spTree>
    <p:extLst>
      <p:ext uri="{BB962C8B-B14F-4D97-AF65-F5344CB8AC3E}">
        <p14:creationId xmlns:p14="http://schemas.microsoft.com/office/powerpoint/2010/main" val="2762719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6B86C-DD03-C90B-7C6C-57C836837F74}"/>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CAA70F8-1393-1DB2-1CA6-A5FB80731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1753" y="2052722"/>
            <a:ext cx="5524979" cy="4008467"/>
          </a:xfrm>
          <a:prstGeom prst="rect">
            <a:avLst/>
          </a:prstGeom>
        </p:spPr>
      </p:pic>
      <p:sp>
        <p:nvSpPr>
          <p:cNvPr id="2" name="Title 1">
            <a:extLst>
              <a:ext uri="{FF2B5EF4-FFF2-40B4-BE49-F238E27FC236}">
                <a16:creationId xmlns:a16="http://schemas.microsoft.com/office/drawing/2014/main" id="{8AC2EDE2-3AC0-D114-549A-FC58AB3BBADF}"/>
              </a:ext>
            </a:extLst>
          </p:cNvPr>
          <p:cNvSpPr>
            <a:spLocks noGrp="1"/>
          </p:cNvSpPr>
          <p:nvPr>
            <p:ph type="title"/>
          </p:nvPr>
        </p:nvSpPr>
        <p:spPr>
          <a:xfrm>
            <a:off x="2231136" y="237105"/>
            <a:ext cx="7729728" cy="608469"/>
          </a:xfrm>
        </p:spPr>
        <p:txBody>
          <a:bodyPr>
            <a:normAutofit fontScale="90000"/>
          </a:bodyPr>
          <a:lstStyle/>
          <a:p>
            <a:r>
              <a:rPr lang="en-US" dirty="0"/>
              <a:t>ML MODELS</a:t>
            </a:r>
            <a:endParaRPr lang="en-IN" dirty="0"/>
          </a:p>
        </p:txBody>
      </p:sp>
      <p:sp>
        <p:nvSpPr>
          <p:cNvPr id="3" name="Content Placeholder 2">
            <a:extLst>
              <a:ext uri="{FF2B5EF4-FFF2-40B4-BE49-F238E27FC236}">
                <a16:creationId xmlns:a16="http://schemas.microsoft.com/office/drawing/2014/main" id="{22EB0FBD-C340-097C-8CDD-D62280C57A42}"/>
              </a:ext>
            </a:extLst>
          </p:cNvPr>
          <p:cNvSpPr>
            <a:spLocks noGrp="1"/>
          </p:cNvSpPr>
          <p:nvPr>
            <p:ph idx="1"/>
          </p:nvPr>
        </p:nvSpPr>
        <p:spPr>
          <a:xfrm>
            <a:off x="500658" y="1143541"/>
            <a:ext cx="7729728" cy="3101983"/>
          </a:xfrm>
        </p:spPr>
        <p:txBody>
          <a:bodyPr>
            <a:normAutofit/>
          </a:bodyPr>
          <a:lstStyle/>
          <a:p>
            <a:r>
              <a:rPr lang="en-US" sz="2000" dirty="0"/>
              <a:t>1. Random Forest Classifier</a:t>
            </a:r>
            <a:endParaRPr lang="en-IN" sz="2000" dirty="0"/>
          </a:p>
        </p:txBody>
      </p:sp>
      <p:pic>
        <p:nvPicPr>
          <p:cNvPr id="5" name="Picture 4">
            <a:extLst>
              <a:ext uri="{FF2B5EF4-FFF2-40B4-BE49-F238E27FC236}">
                <a16:creationId xmlns:a16="http://schemas.microsoft.com/office/drawing/2014/main" id="{624071EF-550B-0359-9DF8-8F5988445FFC}"/>
              </a:ext>
            </a:extLst>
          </p:cNvPr>
          <p:cNvPicPr>
            <a:picLocks noChangeAspect="1"/>
          </p:cNvPicPr>
          <p:nvPr/>
        </p:nvPicPr>
        <p:blipFill>
          <a:blip r:embed="rId3">
            <a:extLst>
              <a:ext uri="{28A0092B-C50C-407E-A947-70E740481C1C}">
                <a14:useLocalDpi xmlns:a14="http://schemas.microsoft.com/office/drawing/2010/main" val="0"/>
              </a:ext>
            </a:extLst>
          </a:blip>
          <a:srcRect r="26628"/>
          <a:stretch>
            <a:fillRect/>
          </a:stretch>
        </p:blipFill>
        <p:spPr>
          <a:xfrm>
            <a:off x="275268" y="2052721"/>
            <a:ext cx="5524979" cy="4008467"/>
          </a:xfrm>
          <a:prstGeom prst="rect">
            <a:avLst/>
          </a:prstGeom>
        </p:spPr>
      </p:pic>
    </p:spTree>
    <p:extLst>
      <p:ext uri="{BB962C8B-B14F-4D97-AF65-F5344CB8AC3E}">
        <p14:creationId xmlns:p14="http://schemas.microsoft.com/office/powerpoint/2010/main" val="1867048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E194-D74B-D2CA-F264-9BDEBB311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99B24D-16BA-87F7-20F6-CE7BCB3856F9}"/>
              </a:ext>
            </a:extLst>
          </p:cNvPr>
          <p:cNvSpPr>
            <a:spLocks noGrp="1"/>
          </p:cNvSpPr>
          <p:nvPr>
            <p:ph type="title"/>
          </p:nvPr>
        </p:nvSpPr>
        <p:spPr>
          <a:xfrm>
            <a:off x="2231136" y="237105"/>
            <a:ext cx="7729728" cy="608469"/>
          </a:xfrm>
        </p:spPr>
        <p:txBody>
          <a:bodyPr>
            <a:normAutofit fontScale="90000"/>
          </a:bodyPr>
          <a:lstStyle/>
          <a:p>
            <a:r>
              <a:rPr lang="en-US" dirty="0"/>
              <a:t>ML </a:t>
            </a:r>
            <a:r>
              <a:rPr lang="en-US" dirty="0" err="1"/>
              <a:t>MOdels</a:t>
            </a:r>
            <a:endParaRPr lang="en-IN" dirty="0"/>
          </a:p>
        </p:txBody>
      </p:sp>
      <p:sp>
        <p:nvSpPr>
          <p:cNvPr id="3" name="Content Placeholder 2">
            <a:extLst>
              <a:ext uri="{FF2B5EF4-FFF2-40B4-BE49-F238E27FC236}">
                <a16:creationId xmlns:a16="http://schemas.microsoft.com/office/drawing/2014/main" id="{020D7A86-0EF0-D288-A610-40D528FF9FAD}"/>
              </a:ext>
            </a:extLst>
          </p:cNvPr>
          <p:cNvSpPr>
            <a:spLocks noGrp="1"/>
          </p:cNvSpPr>
          <p:nvPr>
            <p:ph idx="1"/>
          </p:nvPr>
        </p:nvSpPr>
        <p:spPr>
          <a:xfrm>
            <a:off x="500658" y="1143541"/>
            <a:ext cx="7729728" cy="3101983"/>
          </a:xfrm>
        </p:spPr>
        <p:txBody>
          <a:bodyPr>
            <a:normAutofit/>
          </a:bodyPr>
          <a:lstStyle/>
          <a:p>
            <a:r>
              <a:rPr lang="en-US" sz="2000" dirty="0"/>
              <a:t>2. Gradient Boosting Classifier</a:t>
            </a:r>
            <a:endParaRPr lang="en-IN" sz="2000" dirty="0"/>
          </a:p>
        </p:txBody>
      </p:sp>
      <p:pic>
        <p:nvPicPr>
          <p:cNvPr id="6" name="Picture 5">
            <a:extLst>
              <a:ext uri="{FF2B5EF4-FFF2-40B4-BE49-F238E27FC236}">
                <a16:creationId xmlns:a16="http://schemas.microsoft.com/office/drawing/2014/main" id="{7273C0A3-B3F1-6549-54FD-FF856D2CFE5E}"/>
              </a:ext>
            </a:extLst>
          </p:cNvPr>
          <p:cNvPicPr>
            <a:picLocks noChangeAspect="1"/>
          </p:cNvPicPr>
          <p:nvPr/>
        </p:nvPicPr>
        <p:blipFill>
          <a:blip r:embed="rId2">
            <a:extLst>
              <a:ext uri="{28A0092B-C50C-407E-A947-70E740481C1C}">
                <a14:useLocalDpi xmlns:a14="http://schemas.microsoft.com/office/drawing/2010/main" val="0"/>
              </a:ext>
            </a:extLst>
          </a:blip>
          <a:srcRect r="30998"/>
          <a:stretch>
            <a:fillRect/>
          </a:stretch>
        </p:blipFill>
        <p:spPr>
          <a:xfrm>
            <a:off x="707136" y="1791434"/>
            <a:ext cx="5082981" cy="3805661"/>
          </a:xfrm>
          <a:prstGeom prst="rect">
            <a:avLst/>
          </a:prstGeom>
        </p:spPr>
      </p:pic>
      <p:pic>
        <p:nvPicPr>
          <p:cNvPr id="8" name="Picture 7">
            <a:extLst>
              <a:ext uri="{FF2B5EF4-FFF2-40B4-BE49-F238E27FC236}">
                <a16:creationId xmlns:a16="http://schemas.microsoft.com/office/drawing/2014/main" id="{B92AFD3F-F7A5-1F67-8DD6-206AB6625D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6554" y="1785290"/>
            <a:ext cx="5082980" cy="3817951"/>
          </a:xfrm>
          <a:prstGeom prst="rect">
            <a:avLst/>
          </a:prstGeom>
        </p:spPr>
      </p:pic>
    </p:spTree>
    <p:extLst>
      <p:ext uri="{BB962C8B-B14F-4D97-AF65-F5344CB8AC3E}">
        <p14:creationId xmlns:p14="http://schemas.microsoft.com/office/powerpoint/2010/main" val="32986597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82D6E-253E-A929-925A-5BCE2A5DE12D}"/>
              </a:ext>
            </a:extLst>
          </p:cNvPr>
          <p:cNvSpPr>
            <a:spLocks noGrp="1"/>
          </p:cNvSpPr>
          <p:nvPr>
            <p:ph type="title"/>
          </p:nvPr>
        </p:nvSpPr>
        <p:spPr>
          <a:xfrm>
            <a:off x="2230438" y="188451"/>
            <a:ext cx="7731125" cy="1187450"/>
          </a:xfrm>
        </p:spPr>
        <p:txBody>
          <a:bodyPr>
            <a:normAutofit/>
          </a:bodyPr>
          <a:lstStyle/>
          <a:p>
            <a:r>
              <a:rPr lang="en-IN" dirty="0"/>
              <a:t>Apache Airflow Pipeline</a:t>
            </a:r>
          </a:p>
        </p:txBody>
      </p:sp>
      <p:sp>
        <p:nvSpPr>
          <p:cNvPr id="3" name="Content Placeholder 2">
            <a:extLst>
              <a:ext uri="{FF2B5EF4-FFF2-40B4-BE49-F238E27FC236}">
                <a16:creationId xmlns:a16="http://schemas.microsoft.com/office/drawing/2014/main" id="{9E21206A-1EFE-6D86-2CB6-F7E0819C95B7}"/>
              </a:ext>
            </a:extLst>
          </p:cNvPr>
          <p:cNvSpPr>
            <a:spLocks noGrp="1"/>
          </p:cNvSpPr>
          <p:nvPr>
            <p:ph idx="1"/>
          </p:nvPr>
        </p:nvSpPr>
        <p:spPr>
          <a:xfrm>
            <a:off x="2231136" y="2638044"/>
            <a:ext cx="7729728" cy="3101983"/>
          </a:xfrm>
        </p:spPr>
        <p:txBody>
          <a:bodyPr>
            <a:normAutofit/>
          </a:bodyPr>
          <a:lstStyle/>
          <a:p>
            <a:endParaRPr lang="en-IN" dirty="0"/>
          </a:p>
          <a:p>
            <a:endParaRPr lang="en-IN" dirty="0"/>
          </a:p>
          <a:p>
            <a:endParaRPr lang="en-IN" dirty="0"/>
          </a:p>
          <a:p>
            <a:endParaRPr lang="en-IN" dirty="0"/>
          </a:p>
        </p:txBody>
      </p:sp>
      <p:pic>
        <p:nvPicPr>
          <p:cNvPr id="9218" name="Picture 2" descr="DevOps software development operations. Programmer administration system life cycle quality. Coding building testing release monitoring. Data flow DevOps software development operations. Programmer administration system life cycle quality. Coding building testing release monitoring. Data flow data pipeline stock pictures, royalty-free photos &amp; images">
            <a:extLst>
              <a:ext uri="{FF2B5EF4-FFF2-40B4-BE49-F238E27FC236}">
                <a16:creationId xmlns:a16="http://schemas.microsoft.com/office/drawing/2014/main" id="{9C6381A1-401B-4C15-A7E1-991F28B521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5860025" y="3536879"/>
            <a:ext cx="5997127" cy="295447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55FF9B5-B3F2-CA75-95F5-D32933F22D05}"/>
              </a:ext>
            </a:extLst>
          </p:cNvPr>
          <p:cNvSpPr txBox="1"/>
          <p:nvPr/>
        </p:nvSpPr>
        <p:spPr>
          <a:xfrm>
            <a:off x="639097" y="1719723"/>
            <a:ext cx="6764594"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End-to-end ML pipeline orchestration with scikit-learn:</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Automated data loading and validation</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preprocessing and feature engineering</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 training with scikit-learn</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Model evaluation and validation</a:t>
            </a:r>
          </a:p>
          <a:p>
            <a:pPr marL="742950" lvl="1" indent="-28575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Results persistence</a:t>
            </a:r>
            <a:endParaRPr lang="en-IN"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13276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C3575-90D6-DF06-F3BB-95D90B6BA0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7F62FA-2E67-86FD-0FEB-A4C0106DAD16}"/>
              </a:ext>
            </a:extLst>
          </p:cNvPr>
          <p:cNvSpPr>
            <a:spLocks noGrp="1"/>
          </p:cNvSpPr>
          <p:nvPr>
            <p:ph idx="1"/>
          </p:nvPr>
        </p:nvSpPr>
        <p:spPr>
          <a:xfrm>
            <a:off x="2231136" y="2638044"/>
            <a:ext cx="7729728" cy="3101983"/>
          </a:xfrm>
        </p:spPr>
        <p:txBody>
          <a:bodyPr>
            <a:normAutofit/>
          </a:bodyPr>
          <a:lstStyle/>
          <a:p>
            <a:endParaRPr lang="en-IN" dirty="0"/>
          </a:p>
          <a:p>
            <a:endParaRPr lang="en-IN" dirty="0"/>
          </a:p>
          <a:p>
            <a:endParaRPr lang="en-IN" dirty="0"/>
          </a:p>
          <a:p>
            <a:endParaRPr lang="en-IN" dirty="0"/>
          </a:p>
        </p:txBody>
      </p:sp>
      <p:sp>
        <p:nvSpPr>
          <p:cNvPr id="6" name="TextBox 5">
            <a:extLst>
              <a:ext uri="{FF2B5EF4-FFF2-40B4-BE49-F238E27FC236}">
                <a16:creationId xmlns:a16="http://schemas.microsoft.com/office/drawing/2014/main" id="{C927DBD3-361E-2CDC-C7EF-66E7F65ADD5A}"/>
              </a:ext>
            </a:extLst>
          </p:cNvPr>
          <p:cNvSpPr txBox="1"/>
          <p:nvPr/>
        </p:nvSpPr>
        <p:spPr>
          <a:xfrm>
            <a:off x="678425" y="167149"/>
            <a:ext cx="11198943" cy="4524315"/>
          </a:xfrm>
          <a:prstGeom prst="rect">
            <a:avLst/>
          </a:prstGeom>
          <a:noFill/>
        </p:spPr>
        <p:txBody>
          <a:bodyPr wrap="square" rtlCol="0">
            <a:spAutoFit/>
          </a:bodyPr>
          <a:lstStyle/>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Airflow DAG to automate </a:t>
            </a:r>
            <a:r>
              <a:rPr lang="en-IN" sz="2400" b="1" dirty="0">
                <a:latin typeface="Times New Roman" panose="02020603050405020304" pitchFamily="18" charset="0"/>
                <a:cs typeface="Times New Roman" panose="02020603050405020304" pitchFamily="18" charset="0"/>
              </a:rPr>
              <a:t>entire pipeline</a:t>
            </a:r>
          </a:p>
          <a:p>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Pipeline Tasks:</a:t>
            </a:r>
          </a:p>
          <a:p>
            <a:r>
              <a:rPr lang="en-IN" sz="2400" dirty="0">
                <a:latin typeface="Times New Roman" panose="02020603050405020304" pitchFamily="18" charset="0"/>
                <a:cs typeface="Times New Roman" panose="02020603050405020304" pitchFamily="18" charset="0"/>
              </a:rPr>
              <a:t>1. `</a:t>
            </a:r>
            <a:r>
              <a:rPr lang="en-IN" sz="2400" dirty="0" err="1">
                <a:latin typeface="Times New Roman" panose="02020603050405020304" pitchFamily="18" charset="0"/>
                <a:cs typeface="Times New Roman" panose="02020603050405020304" pitchFamily="18" charset="0"/>
              </a:rPr>
              <a:t>load_and_validate_data</a:t>
            </a:r>
            <a:r>
              <a:rPr lang="en-IN" sz="2400" dirty="0">
                <a:latin typeface="Times New Roman" panose="02020603050405020304" pitchFamily="18" charset="0"/>
                <a:cs typeface="Times New Roman" panose="02020603050405020304" pitchFamily="18" charset="0"/>
              </a:rPr>
              <a:t>`: Load and validate CSV data</a:t>
            </a:r>
          </a:p>
          <a:p>
            <a:r>
              <a:rPr lang="en-IN" sz="2400" dirty="0">
                <a:latin typeface="Times New Roman" panose="02020603050405020304" pitchFamily="18" charset="0"/>
                <a:cs typeface="Times New Roman" panose="02020603050405020304" pitchFamily="18" charset="0"/>
              </a:rPr>
              <a:t>2. `</a:t>
            </a:r>
            <a:r>
              <a:rPr lang="en-IN" sz="2400" dirty="0" err="1">
                <a:latin typeface="Times New Roman" panose="02020603050405020304" pitchFamily="18" charset="0"/>
                <a:cs typeface="Times New Roman" panose="02020603050405020304" pitchFamily="18" charset="0"/>
              </a:rPr>
              <a:t>preprocess_data</a:t>
            </a:r>
            <a:r>
              <a:rPr lang="en-IN" sz="2400" dirty="0">
                <a:latin typeface="Times New Roman" panose="02020603050405020304" pitchFamily="18" charset="0"/>
                <a:cs typeface="Times New Roman" panose="02020603050405020304" pitchFamily="18" charset="0"/>
              </a:rPr>
              <a:t>`: Feature engineering and data splitting</a:t>
            </a:r>
          </a:p>
          <a:p>
            <a:r>
              <a:rPr lang="en-IN" sz="2400" dirty="0">
                <a:latin typeface="Times New Roman" panose="02020603050405020304" pitchFamily="18" charset="0"/>
                <a:cs typeface="Times New Roman" panose="02020603050405020304" pitchFamily="18" charset="0"/>
              </a:rPr>
              <a:t>3. `</a:t>
            </a:r>
            <a:r>
              <a:rPr lang="en-IN" sz="2400" dirty="0" err="1">
                <a:latin typeface="Times New Roman" panose="02020603050405020304" pitchFamily="18" charset="0"/>
                <a:cs typeface="Times New Roman" panose="02020603050405020304" pitchFamily="18" charset="0"/>
              </a:rPr>
              <a:t>train_model</a:t>
            </a:r>
            <a:r>
              <a:rPr lang="en-IN" sz="2400" dirty="0">
                <a:latin typeface="Times New Roman" panose="02020603050405020304" pitchFamily="18" charset="0"/>
                <a:cs typeface="Times New Roman" panose="02020603050405020304" pitchFamily="18" charset="0"/>
              </a:rPr>
              <a:t>`: Train scikit-learn model (Random Forest, Gradient Boosting Classifier)</a:t>
            </a:r>
          </a:p>
          <a:p>
            <a:r>
              <a:rPr lang="en-IN" sz="2400" dirty="0">
                <a:latin typeface="Times New Roman" panose="02020603050405020304" pitchFamily="18" charset="0"/>
                <a:cs typeface="Times New Roman" panose="02020603050405020304" pitchFamily="18" charset="0"/>
              </a:rPr>
              <a:t>4. `</a:t>
            </a:r>
            <a:r>
              <a:rPr lang="en-IN" sz="2400" dirty="0" err="1">
                <a:latin typeface="Times New Roman" panose="02020603050405020304" pitchFamily="18" charset="0"/>
                <a:cs typeface="Times New Roman" panose="02020603050405020304" pitchFamily="18" charset="0"/>
              </a:rPr>
              <a:t>evaluate_model</a:t>
            </a:r>
            <a:r>
              <a:rPr lang="en-IN" sz="2400" dirty="0">
                <a:latin typeface="Times New Roman" panose="02020603050405020304" pitchFamily="18" charset="0"/>
                <a:cs typeface="Times New Roman" panose="02020603050405020304" pitchFamily="18" charset="0"/>
              </a:rPr>
              <a:t>`: Generate evaluation metrics and reports</a:t>
            </a:r>
          </a:p>
          <a:p>
            <a:r>
              <a:rPr lang="en-IN" sz="2400" dirty="0">
                <a:latin typeface="Times New Roman" panose="02020603050405020304" pitchFamily="18" charset="0"/>
                <a:cs typeface="Times New Roman" panose="02020603050405020304" pitchFamily="18" charset="0"/>
              </a:rPr>
              <a:t>5. `</a:t>
            </a:r>
            <a:r>
              <a:rPr lang="en-IN" sz="2400" dirty="0" err="1">
                <a:latin typeface="Times New Roman" panose="02020603050405020304" pitchFamily="18" charset="0"/>
                <a:cs typeface="Times New Roman" panose="02020603050405020304" pitchFamily="18" charset="0"/>
              </a:rPr>
              <a:t>model_validation_check</a:t>
            </a:r>
            <a:r>
              <a:rPr lang="en-IN" sz="2400" dirty="0">
                <a:latin typeface="Times New Roman" panose="02020603050405020304" pitchFamily="18" charset="0"/>
                <a:cs typeface="Times New Roman" panose="02020603050405020304" pitchFamily="18" charset="0"/>
              </a:rPr>
              <a:t>`: Validate model meets performance thresholds</a:t>
            </a:r>
          </a:p>
          <a:p>
            <a:r>
              <a:rPr lang="en-IN" sz="2400" dirty="0">
                <a:latin typeface="Times New Roman" panose="02020603050405020304" pitchFamily="18" charset="0"/>
                <a:cs typeface="Times New Roman" panose="02020603050405020304" pitchFamily="18" charset="0"/>
              </a:rPr>
              <a:t>6. `</a:t>
            </a:r>
            <a:r>
              <a:rPr lang="en-IN" sz="2400" dirty="0" err="1">
                <a:latin typeface="Times New Roman" panose="02020603050405020304" pitchFamily="18" charset="0"/>
                <a:cs typeface="Times New Roman" panose="02020603050405020304" pitchFamily="18" charset="0"/>
              </a:rPr>
              <a:t>save_results_summary</a:t>
            </a:r>
            <a:r>
              <a:rPr lang="en-IN" sz="2400" dirty="0">
                <a:latin typeface="Times New Roman" panose="02020603050405020304" pitchFamily="18" charset="0"/>
                <a:cs typeface="Times New Roman" panose="02020603050405020304" pitchFamily="18" charset="0"/>
              </a:rPr>
              <a:t>`: Save pipeline summary</a:t>
            </a:r>
          </a:p>
          <a:p>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Pipeline Flow</a:t>
            </a:r>
            <a:endParaRPr lang="en-IN" sz="2400" dirty="0">
              <a:latin typeface="Times New Roman" panose="02020603050405020304" pitchFamily="18" charset="0"/>
              <a:cs typeface="Times New Roman" panose="02020603050405020304" pitchFamily="18" charset="0"/>
            </a:endParaRPr>
          </a:p>
          <a:p>
            <a:endParaRPr lang="en-IN" sz="2400" dirty="0"/>
          </a:p>
        </p:txBody>
      </p:sp>
      <p:graphicFrame>
        <p:nvGraphicFramePr>
          <p:cNvPr id="10" name="Diagram 9">
            <a:extLst>
              <a:ext uri="{FF2B5EF4-FFF2-40B4-BE49-F238E27FC236}">
                <a16:creationId xmlns:a16="http://schemas.microsoft.com/office/drawing/2014/main" id="{E18425C3-6CCA-2BBF-36D5-86987B4D479C}"/>
              </a:ext>
            </a:extLst>
          </p:cNvPr>
          <p:cNvGraphicFramePr/>
          <p:nvPr>
            <p:extLst>
              <p:ext uri="{D42A27DB-BD31-4B8C-83A1-F6EECF244321}">
                <p14:modId xmlns:p14="http://schemas.microsoft.com/office/powerpoint/2010/main" val="1949195044"/>
              </p:ext>
            </p:extLst>
          </p:nvPr>
        </p:nvGraphicFramePr>
        <p:xfrm>
          <a:off x="2216387" y="3859386"/>
          <a:ext cx="6980904" cy="27563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8188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C0DDF50-2B22-C4AC-B79B-6D2C3001F7FE}"/>
              </a:ext>
            </a:extLst>
          </p:cNvPr>
          <p:cNvPicPr>
            <a:picLocks noChangeAspect="1"/>
          </p:cNvPicPr>
          <p:nvPr/>
        </p:nvPicPr>
        <p:blipFill>
          <a:blip r:embed="rId2"/>
          <a:stretch>
            <a:fillRect/>
          </a:stretch>
        </p:blipFill>
        <p:spPr>
          <a:xfrm>
            <a:off x="3524865" y="292679"/>
            <a:ext cx="5142270" cy="6272642"/>
          </a:xfrm>
          <a:prstGeom prst="rect">
            <a:avLst/>
          </a:prstGeom>
        </p:spPr>
      </p:pic>
    </p:spTree>
    <p:extLst>
      <p:ext uri="{BB962C8B-B14F-4D97-AF65-F5344CB8AC3E}">
        <p14:creationId xmlns:p14="http://schemas.microsoft.com/office/powerpoint/2010/main" val="36584653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ACF06-4C7D-75FE-44B4-46D9D0728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B1CAD-695E-2CCD-AF1C-9C40100C449F}"/>
              </a:ext>
            </a:extLst>
          </p:cNvPr>
          <p:cNvSpPr>
            <a:spLocks noGrp="1"/>
          </p:cNvSpPr>
          <p:nvPr>
            <p:ph type="title"/>
          </p:nvPr>
        </p:nvSpPr>
        <p:spPr>
          <a:xfrm>
            <a:off x="226141" y="217440"/>
            <a:ext cx="11788877" cy="696960"/>
          </a:xfrm>
        </p:spPr>
        <p:txBody>
          <a:bodyPr>
            <a:normAutofit fontScale="90000"/>
          </a:bodyPr>
          <a:lstStyle/>
          <a:p>
            <a:r>
              <a:rPr lang="en-US" dirty="0"/>
              <a:t>Triggering `</a:t>
            </a:r>
            <a:r>
              <a:rPr lang="en-US" dirty="0" err="1"/>
              <a:t>hdfs_incident_prediction_pipeline</a:t>
            </a:r>
            <a:r>
              <a:rPr lang="en-US" dirty="0"/>
              <a:t>` DAG</a:t>
            </a:r>
            <a:endParaRPr lang="en-IN" dirty="0"/>
          </a:p>
        </p:txBody>
      </p:sp>
      <p:pic>
        <p:nvPicPr>
          <p:cNvPr id="7" name="Picture 6">
            <a:extLst>
              <a:ext uri="{FF2B5EF4-FFF2-40B4-BE49-F238E27FC236}">
                <a16:creationId xmlns:a16="http://schemas.microsoft.com/office/drawing/2014/main" id="{A5434307-4CF5-89D0-9FA1-2D12D102EC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149" y="1436197"/>
            <a:ext cx="5788851" cy="4974435"/>
          </a:xfrm>
          <a:prstGeom prst="rect">
            <a:avLst/>
          </a:prstGeom>
        </p:spPr>
      </p:pic>
      <p:pic>
        <p:nvPicPr>
          <p:cNvPr id="3" name="Picture 2">
            <a:extLst>
              <a:ext uri="{FF2B5EF4-FFF2-40B4-BE49-F238E27FC236}">
                <a16:creationId xmlns:a16="http://schemas.microsoft.com/office/drawing/2014/main" id="{C9E1800D-144F-53F3-9859-07067F532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2478" y="1451438"/>
            <a:ext cx="5582374" cy="4959194"/>
          </a:xfrm>
          <a:prstGeom prst="rect">
            <a:avLst/>
          </a:prstGeom>
        </p:spPr>
      </p:pic>
    </p:spTree>
    <p:extLst>
      <p:ext uri="{BB962C8B-B14F-4D97-AF65-F5344CB8AC3E}">
        <p14:creationId xmlns:p14="http://schemas.microsoft.com/office/powerpoint/2010/main" val="8067074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A0B39-341A-C228-763B-14FB97585D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CB2312-8BC1-7011-CA6E-2171A3EB688E}"/>
              </a:ext>
            </a:extLst>
          </p:cNvPr>
          <p:cNvSpPr>
            <a:spLocks noGrp="1"/>
          </p:cNvSpPr>
          <p:nvPr>
            <p:ph type="title"/>
          </p:nvPr>
        </p:nvSpPr>
        <p:spPr>
          <a:xfrm>
            <a:off x="2231136" y="217440"/>
            <a:ext cx="7729728" cy="696960"/>
          </a:xfrm>
        </p:spPr>
        <p:txBody>
          <a:bodyPr>
            <a:normAutofit fontScale="90000"/>
          </a:bodyPr>
          <a:lstStyle/>
          <a:p>
            <a:r>
              <a:rPr lang="en-US" dirty="0"/>
              <a:t>Airflow graph</a:t>
            </a:r>
            <a:endParaRPr lang="en-IN" dirty="0"/>
          </a:p>
        </p:txBody>
      </p:sp>
      <p:sp>
        <p:nvSpPr>
          <p:cNvPr id="3" name="TextBox 2">
            <a:extLst>
              <a:ext uri="{FF2B5EF4-FFF2-40B4-BE49-F238E27FC236}">
                <a16:creationId xmlns:a16="http://schemas.microsoft.com/office/drawing/2014/main" id="{48295429-058F-EB93-E64B-D5854724313F}"/>
              </a:ext>
            </a:extLst>
          </p:cNvPr>
          <p:cNvSpPr txBox="1"/>
          <p:nvPr/>
        </p:nvSpPr>
        <p:spPr>
          <a:xfrm>
            <a:off x="1102484" y="1469132"/>
            <a:ext cx="9987029" cy="646331"/>
          </a:xfrm>
          <a:prstGeom prst="rect">
            <a:avLst/>
          </a:prstGeom>
          <a:noFill/>
        </p:spPr>
        <p:txBody>
          <a:bodyPr wrap="none" rtlCol="0">
            <a:spAutoFit/>
          </a:bodyPr>
          <a:lstStyle/>
          <a:p>
            <a:r>
              <a:rPr lang="en-US" dirty="0"/>
              <a:t>Define task dependencies</a:t>
            </a:r>
          </a:p>
          <a:p>
            <a:r>
              <a:rPr lang="en-US" dirty="0" err="1"/>
              <a:t>task_load_data</a:t>
            </a:r>
            <a:r>
              <a:rPr lang="en-US" dirty="0"/>
              <a:t> &gt;&gt; </a:t>
            </a:r>
            <a:r>
              <a:rPr lang="en-US" dirty="0" err="1"/>
              <a:t>task_preprocess</a:t>
            </a:r>
            <a:r>
              <a:rPr lang="en-US" dirty="0"/>
              <a:t> &gt;&gt; </a:t>
            </a:r>
            <a:r>
              <a:rPr lang="en-US" dirty="0" err="1"/>
              <a:t>task_train</a:t>
            </a:r>
            <a:r>
              <a:rPr lang="en-US" dirty="0"/>
              <a:t> &gt;&gt; [</a:t>
            </a:r>
            <a:r>
              <a:rPr lang="en-US" dirty="0" err="1"/>
              <a:t>task_evaluate</a:t>
            </a:r>
            <a:r>
              <a:rPr lang="en-US" dirty="0"/>
              <a:t>, </a:t>
            </a:r>
            <a:r>
              <a:rPr lang="en-US" dirty="0" err="1"/>
              <a:t>task_validate</a:t>
            </a:r>
            <a:r>
              <a:rPr lang="en-US" dirty="0"/>
              <a:t>] &gt;&gt; </a:t>
            </a:r>
            <a:r>
              <a:rPr lang="en-US" dirty="0" err="1"/>
              <a:t>task_save_results</a:t>
            </a:r>
            <a:endParaRPr lang="en-IN" dirty="0"/>
          </a:p>
        </p:txBody>
      </p:sp>
      <p:pic>
        <p:nvPicPr>
          <p:cNvPr id="12" name="Picture 11">
            <a:extLst>
              <a:ext uri="{FF2B5EF4-FFF2-40B4-BE49-F238E27FC236}">
                <a16:creationId xmlns:a16="http://schemas.microsoft.com/office/drawing/2014/main" id="{7141D81B-158A-AF64-F35C-6C46F863A3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3508" y="2341009"/>
            <a:ext cx="5524979" cy="3939881"/>
          </a:xfrm>
          <a:prstGeom prst="rect">
            <a:avLst/>
          </a:prstGeom>
        </p:spPr>
      </p:pic>
    </p:spTree>
    <p:extLst>
      <p:ext uri="{BB962C8B-B14F-4D97-AF65-F5344CB8AC3E}">
        <p14:creationId xmlns:p14="http://schemas.microsoft.com/office/powerpoint/2010/main" val="3669044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972C5-1C93-6C78-560C-23DEEF97FD8C}"/>
              </a:ext>
            </a:extLst>
          </p:cNvPr>
          <p:cNvSpPr>
            <a:spLocks noGrp="1"/>
          </p:cNvSpPr>
          <p:nvPr>
            <p:ph type="title"/>
          </p:nvPr>
        </p:nvSpPr>
        <p:spPr>
          <a:xfrm>
            <a:off x="2231136" y="345259"/>
            <a:ext cx="7729728" cy="1188720"/>
          </a:xfrm>
        </p:spPr>
        <p:txBody>
          <a:bodyPr/>
          <a:lstStyle/>
          <a:p>
            <a:r>
              <a:rPr lang="en-IN" dirty="0"/>
              <a:t>Results and Insights</a:t>
            </a:r>
          </a:p>
        </p:txBody>
      </p:sp>
      <p:sp>
        <p:nvSpPr>
          <p:cNvPr id="3" name="Content Placeholder 2">
            <a:extLst>
              <a:ext uri="{FF2B5EF4-FFF2-40B4-BE49-F238E27FC236}">
                <a16:creationId xmlns:a16="http://schemas.microsoft.com/office/drawing/2014/main" id="{807C9777-CA5F-D0C7-65DC-5D76F517DAFD}"/>
              </a:ext>
            </a:extLst>
          </p:cNvPr>
          <p:cNvSpPr>
            <a:spLocks noGrp="1"/>
          </p:cNvSpPr>
          <p:nvPr>
            <p:ph idx="1"/>
          </p:nvPr>
        </p:nvSpPr>
        <p:spPr>
          <a:xfrm>
            <a:off x="2054155" y="1878006"/>
            <a:ext cx="7729728" cy="3101983"/>
          </a:xfrm>
        </p:spPr>
        <p:txBody>
          <a:bodyPr>
            <a:normAutofit/>
          </a:bodyPr>
          <a:lstStyle/>
          <a:p>
            <a:pPr marL="0" indent="0">
              <a:buNone/>
            </a:pPr>
            <a:r>
              <a:rPr lang="en-US" sz="2000" dirty="0"/>
              <a:t>• Achieved reliable incident prediction accuracy</a:t>
            </a:r>
            <a:br>
              <a:rPr lang="en-US" sz="2000" dirty="0"/>
            </a:br>
            <a:endParaRPr lang="en-US" sz="2000" dirty="0"/>
          </a:p>
          <a:p>
            <a:pPr marL="0" indent="0">
              <a:buNone/>
            </a:pPr>
            <a:r>
              <a:rPr lang="en-US" sz="2000" dirty="0"/>
              <a:t>• Identified critical log patterns</a:t>
            </a:r>
            <a:br>
              <a:rPr lang="en-US" sz="2000" dirty="0"/>
            </a:br>
            <a:endParaRPr lang="en-US" sz="2000" dirty="0"/>
          </a:p>
          <a:p>
            <a:pPr marL="0" indent="0">
              <a:buNone/>
            </a:pPr>
            <a:r>
              <a:rPr lang="en-US" sz="2000" dirty="0"/>
              <a:t>• Improved incident response efficiency</a:t>
            </a:r>
            <a:br>
              <a:rPr lang="en-US" sz="2000" dirty="0"/>
            </a:br>
            <a:endParaRPr lang="en-US" sz="2000" dirty="0"/>
          </a:p>
          <a:p>
            <a:pPr marL="0" indent="0">
              <a:buNone/>
            </a:pPr>
            <a:r>
              <a:rPr lang="en-US" sz="2000" dirty="0"/>
              <a:t>• Demonstrated scalability of the system</a:t>
            </a:r>
            <a:endParaRPr lang="en-IN" sz="2000" dirty="0"/>
          </a:p>
        </p:txBody>
      </p:sp>
      <p:pic>
        <p:nvPicPr>
          <p:cNvPr id="3074" name="Picture 2" descr="Financial Results">
            <a:extLst>
              <a:ext uri="{FF2B5EF4-FFF2-40B4-BE49-F238E27FC236}">
                <a16:creationId xmlns:a16="http://schemas.microsoft.com/office/drawing/2014/main" id="{2AB93A81-2C12-581E-7295-708F0D6A7B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0730" y="2413203"/>
            <a:ext cx="6505928" cy="2031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8553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3AEFB-6ECD-90BB-6207-7D31DD6F9156}"/>
              </a:ext>
            </a:extLst>
          </p:cNvPr>
          <p:cNvSpPr>
            <a:spLocks noGrp="1"/>
          </p:cNvSpPr>
          <p:nvPr>
            <p:ph type="title"/>
          </p:nvPr>
        </p:nvSpPr>
        <p:spPr>
          <a:xfrm>
            <a:off x="2231136" y="217440"/>
            <a:ext cx="7729728" cy="696960"/>
          </a:xfrm>
        </p:spPr>
        <p:txBody>
          <a:bodyPr>
            <a:normAutofit fontScale="90000"/>
          </a:bodyPr>
          <a:lstStyle/>
          <a:p>
            <a:r>
              <a:rPr lang="en-US" dirty="0"/>
              <a:t>Classification report</a:t>
            </a:r>
            <a:endParaRPr lang="en-IN" dirty="0"/>
          </a:p>
        </p:txBody>
      </p:sp>
      <p:sp>
        <p:nvSpPr>
          <p:cNvPr id="3" name="Content Placeholder 2">
            <a:extLst>
              <a:ext uri="{FF2B5EF4-FFF2-40B4-BE49-F238E27FC236}">
                <a16:creationId xmlns:a16="http://schemas.microsoft.com/office/drawing/2014/main" id="{816CA268-34EE-DA35-362B-3FE85315F1C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F8AA7940-CC10-63A7-0E6B-E4431A23F080}"/>
              </a:ext>
            </a:extLst>
          </p:cNvPr>
          <p:cNvPicPr>
            <a:picLocks noChangeAspect="1"/>
          </p:cNvPicPr>
          <p:nvPr/>
        </p:nvPicPr>
        <p:blipFill>
          <a:blip r:embed="rId2"/>
          <a:stretch>
            <a:fillRect/>
          </a:stretch>
        </p:blipFill>
        <p:spPr>
          <a:xfrm>
            <a:off x="2133806" y="1363002"/>
            <a:ext cx="7924388" cy="5346384"/>
          </a:xfrm>
          <a:prstGeom prst="rect">
            <a:avLst/>
          </a:prstGeom>
        </p:spPr>
      </p:pic>
    </p:spTree>
    <p:extLst>
      <p:ext uri="{BB962C8B-B14F-4D97-AF65-F5344CB8AC3E}">
        <p14:creationId xmlns:p14="http://schemas.microsoft.com/office/powerpoint/2010/main" val="3276817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68E41-D57C-D363-06BE-523083093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6A425D-1C0F-824B-3907-C3E78EB60851}"/>
              </a:ext>
            </a:extLst>
          </p:cNvPr>
          <p:cNvSpPr>
            <a:spLocks noGrp="1"/>
          </p:cNvSpPr>
          <p:nvPr>
            <p:ph type="title"/>
          </p:nvPr>
        </p:nvSpPr>
        <p:spPr>
          <a:xfrm>
            <a:off x="2231136" y="217440"/>
            <a:ext cx="7729728" cy="696960"/>
          </a:xfrm>
        </p:spPr>
        <p:txBody>
          <a:bodyPr>
            <a:normAutofit fontScale="90000"/>
          </a:bodyPr>
          <a:lstStyle/>
          <a:p>
            <a:r>
              <a:rPr lang="en-US" dirty="0"/>
              <a:t>Evaluation Report</a:t>
            </a:r>
            <a:endParaRPr lang="en-IN" dirty="0"/>
          </a:p>
        </p:txBody>
      </p:sp>
      <p:pic>
        <p:nvPicPr>
          <p:cNvPr id="6" name="Picture 5">
            <a:extLst>
              <a:ext uri="{FF2B5EF4-FFF2-40B4-BE49-F238E27FC236}">
                <a16:creationId xmlns:a16="http://schemas.microsoft.com/office/drawing/2014/main" id="{23A510F0-D7D4-0742-8A6B-400A59E6BCD8}"/>
              </a:ext>
            </a:extLst>
          </p:cNvPr>
          <p:cNvPicPr>
            <a:picLocks noChangeAspect="1"/>
          </p:cNvPicPr>
          <p:nvPr/>
        </p:nvPicPr>
        <p:blipFill>
          <a:blip r:embed="rId2"/>
          <a:stretch>
            <a:fillRect/>
          </a:stretch>
        </p:blipFill>
        <p:spPr>
          <a:xfrm>
            <a:off x="3857312" y="1228068"/>
            <a:ext cx="4477375" cy="4991797"/>
          </a:xfrm>
          <a:prstGeom prst="rect">
            <a:avLst/>
          </a:prstGeom>
        </p:spPr>
      </p:pic>
    </p:spTree>
    <p:extLst>
      <p:ext uri="{BB962C8B-B14F-4D97-AF65-F5344CB8AC3E}">
        <p14:creationId xmlns:p14="http://schemas.microsoft.com/office/powerpoint/2010/main" val="3728119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F5C73-458B-7B67-353A-59328B8564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A9BD79-2946-3B3E-F594-A5E121215DBE}"/>
              </a:ext>
            </a:extLst>
          </p:cNvPr>
          <p:cNvSpPr>
            <a:spLocks noGrp="1"/>
          </p:cNvSpPr>
          <p:nvPr>
            <p:ph type="title"/>
          </p:nvPr>
        </p:nvSpPr>
        <p:spPr>
          <a:xfrm>
            <a:off x="2231136" y="217440"/>
            <a:ext cx="7729728" cy="696960"/>
          </a:xfrm>
        </p:spPr>
        <p:txBody>
          <a:bodyPr>
            <a:normAutofit fontScale="90000"/>
          </a:bodyPr>
          <a:lstStyle/>
          <a:p>
            <a:r>
              <a:rPr lang="en-US" dirty="0"/>
              <a:t>Confusion matrix and prediction</a:t>
            </a:r>
            <a:endParaRPr lang="en-IN" dirty="0"/>
          </a:p>
        </p:txBody>
      </p:sp>
      <p:pic>
        <p:nvPicPr>
          <p:cNvPr id="6" name="Content Placeholder 5">
            <a:extLst>
              <a:ext uri="{FF2B5EF4-FFF2-40B4-BE49-F238E27FC236}">
                <a16:creationId xmlns:a16="http://schemas.microsoft.com/office/drawing/2014/main" id="{6C931344-E697-05D7-F96E-DBB2B6E99530}"/>
              </a:ext>
            </a:extLst>
          </p:cNvPr>
          <p:cNvPicPr>
            <a:picLocks noGrp="1" noChangeAspect="1"/>
          </p:cNvPicPr>
          <p:nvPr>
            <p:ph idx="1"/>
          </p:nvPr>
        </p:nvPicPr>
        <p:blipFill>
          <a:blip r:embed="rId2"/>
          <a:stretch>
            <a:fillRect/>
          </a:stretch>
        </p:blipFill>
        <p:spPr>
          <a:xfrm>
            <a:off x="4714682" y="1743411"/>
            <a:ext cx="2762636" cy="1057423"/>
          </a:xfrm>
          <a:prstGeom prst="rect">
            <a:avLst/>
          </a:prstGeom>
        </p:spPr>
      </p:pic>
      <p:pic>
        <p:nvPicPr>
          <p:cNvPr id="8" name="Picture 7">
            <a:extLst>
              <a:ext uri="{FF2B5EF4-FFF2-40B4-BE49-F238E27FC236}">
                <a16:creationId xmlns:a16="http://schemas.microsoft.com/office/drawing/2014/main" id="{64EB5F56-CEAF-28FF-C512-3F688098AADB}"/>
              </a:ext>
            </a:extLst>
          </p:cNvPr>
          <p:cNvPicPr>
            <a:picLocks noChangeAspect="1"/>
          </p:cNvPicPr>
          <p:nvPr/>
        </p:nvPicPr>
        <p:blipFill>
          <a:blip r:embed="rId3"/>
          <a:stretch>
            <a:fillRect/>
          </a:stretch>
        </p:blipFill>
        <p:spPr>
          <a:xfrm>
            <a:off x="4714682" y="3401608"/>
            <a:ext cx="2762636" cy="3238952"/>
          </a:xfrm>
          <a:prstGeom prst="rect">
            <a:avLst/>
          </a:prstGeom>
        </p:spPr>
      </p:pic>
      <p:sp>
        <p:nvSpPr>
          <p:cNvPr id="10" name="TextBox 9">
            <a:extLst>
              <a:ext uri="{FF2B5EF4-FFF2-40B4-BE49-F238E27FC236}">
                <a16:creationId xmlns:a16="http://schemas.microsoft.com/office/drawing/2014/main" id="{C7B17159-2C33-D234-BA99-AA48F3C75E62}"/>
              </a:ext>
            </a:extLst>
          </p:cNvPr>
          <p:cNvSpPr txBox="1"/>
          <p:nvPr/>
        </p:nvSpPr>
        <p:spPr>
          <a:xfrm>
            <a:off x="5185334" y="1374079"/>
            <a:ext cx="1821332" cy="369332"/>
          </a:xfrm>
          <a:prstGeom prst="rect">
            <a:avLst/>
          </a:prstGeom>
          <a:noFill/>
        </p:spPr>
        <p:txBody>
          <a:bodyPr wrap="none" rtlCol="0">
            <a:spAutoFit/>
          </a:bodyPr>
          <a:lstStyle/>
          <a:p>
            <a:r>
              <a:rPr lang="en-US" dirty="0"/>
              <a:t>Confusion Matrix</a:t>
            </a:r>
            <a:endParaRPr lang="en-IN" dirty="0"/>
          </a:p>
        </p:txBody>
      </p:sp>
      <p:sp>
        <p:nvSpPr>
          <p:cNvPr id="11" name="TextBox 10">
            <a:extLst>
              <a:ext uri="{FF2B5EF4-FFF2-40B4-BE49-F238E27FC236}">
                <a16:creationId xmlns:a16="http://schemas.microsoft.com/office/drawing/2014/main" id="{19718D0B-52CA-7FEC-673C-CB674247696E}"/>
              </a:ext>
            </a:extLst>
          </p:cNvPr>
          <p:cNvSpPr txBox="1"/>
          <p:nvPr/>
        </p:nvSpPr>
        <p:spPr>
          <a:xfrm>
            <a:off x="5526677" y="3059668"/>
            <a:ext cx="1138645" cy="369332"/>
          </a:xfrm>
          <a:prstGeom prst="rect">
            <a:avLst/>
          </a:prstGeom>
          <a:noFill/>
        </p:spPr>
        <p:txBody>
          <a:bodyPr wrap="none" rtlCol="0">
            <a:spAutoFit/>
          </a:bodyPr>
          <a:lstStyle/>
          <a:p>
            <a:r>
              <a:rPr lang="en-US" dirty="0"/>
              <a:t>Prediction</a:t>
            </a:r>
            <a:endParaRPr lang="en-IN" dirty="0"/>
          </a:p>
        </p:txBody>
      </p:sp>
    </p:spTree>
    <p:extLst>
      <p:ext uri="{BB962C8B-B14F-4D97-AF65-F5344CB8AC3E}">
        <p14:creationId xmlns:p14="http://schemas.microsoft.com/office/powerpoint/2010/main" val="2788125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64F3-CB85-21A4-CDB6-57837D36734B}"/>
              </a:ext>
            </a:extLst>
          </p:cNvPr>
          <p:cNvSpPr>
            <a:spLocks noGrp="1"/>
          </p:cNvSpPr>
          <p:nvPr>
            <p:ph type="title"/>
          </p:nvPr>
        </p:nvSpPr>
        <p:spPr>
          <a:xfrm>
            <a:off x="2231136" y="453415"/>
            <a:ext cx="7729728" cy="1188720"/>
          </a:xfrm>
        </p:spPr>
        <p:txBody>
          <a:bodyPr/>
          <a:lstStyle/>
          <a:p>
            <a:r>
              <a:rPr lang="en-IN" dirty="0"/>
              <a:t>Conclusion</a:t>
            </a:r>
          </a:p>
        </p:txBody>
      </p:sp>
      <p:sp>
        <p:nvSpPr>
          <p:cNvPr id="3" name="Content Placeholder 2">
            <a:extLst>
              <a:ext uri="{FF2B5EF4-FFF2-40B4-BE49-F238E27FC236}">
                <a16:creationId xmlns:a16="http://schemas.microsoft.com/office/drawing/2014/main" id="{21A5D264-613E-AC33-C936-C9E4C552C123}"/>
              </a:ext>
            </a:extLst>
          </p:cNvPr>
          <p:cNvSpPr>
            <a:spLocks noGrp="1"/>
          </p:cNvSpPr>
          <p:nvPr>
            <p:ph idx="1"/>
          </p:nvPr>
        </p:nvSpPr>
        <p:spPr>
          <a:xfrm>
            <a:off x="2231136" y="2018612"/>
            <a:ext cx="7729728" cy="3101983"/>
          </a:xfrm>
        </p:spPr>
        <p:txBody>
          <a:bodyPr>
            <a:normAutofit/>
          </a:bodyPr>
          <a:lstStyle/>
          <a:p>
            <a:pPr marL="0" indent="0">
              <a:buNone/>
            </a:pPr>
            <a:r>
              <a:rPr lang="en-US" sz="2000" dirty="0"/>
              <a:t>• End-to-end automated log analytics system</a:t>
            </a:r>
          </a:p>
          <a:p>
            <a:pPr marL="0" indent="0">
              <a:buNone/>
            </a:pPr>
            <a:br>
              <a:rPr lang="en-US" sz="2000" dirty="0"/>
            </a:br>
            <a:r>
              <a:rPr lang="en-US" sz="2000" dirty="0"/>
              <a:t>• Scalable big data processing architecture</a:t>
            </a:r>
            <a:br>
              <a:rPr lang="en-US" sz="2000" dirty="0"/>
            </a:br>
            <a:endParaRPr lang="en-US" sz="2000" dirty="0"/>
          </a:p>
          <a:p>
            <a:pPr marL="0" indent="0">
              <a:buNone/>
            </a:pPr>
            <a:r>
              <a:rPr lang="en-US" sz="2000" dirty="0"/>
              <a:t>• Proactive incident prediction using ML</a:t>
            </a:r>
            <a:br>
              <a:rPr lang="en-US" sz="2000" dirty="0"/>
            </a:br>
            <a:endParaRPr lang="en-US" sz="2000" dirty="0"/>
          </a:p>
          <a:p>
            <a:pPr marL="0" indent="0">
              <a:buNone/>
            </a:pPr>
            <a:r>
              <a:rPr lang="en-US" sz="2000" dirty="0"/>
              <a:t>• Suitable for real-world enterprise environments</a:t>
            </a:r>
            <a:endParaRPr lang="en-IN" sz="2000" dirty="0"/>
          </a:p>
        </p:txBody>
      </p:sp>
      <p:pic>
        <p:nvPicPr>
          <p:cNvPr id="4" name="Picture 5" descr="Conclusions, Motivational Inspirational Quotes Conclusions, business motivational inspirational quotes, words typography top view lettering concept conclusion words stock pictures, royalty-free photos &amp; images">
            <a:extLst>
              <a:ext uri="{FF2B5EF4-FFF2-40B4-BE49-F238E27FC236}">
                <a16:creationId xmlns:a16="http://schemas.microsoft.com/office/drawing/2014/main" id="{B263C8AD-1853-C2A4-456E-E44392B65A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8323" y="1821619"/>
            <a:ext cx="4277032" cy="3214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680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33ED8-32E6-47CC-23DB-FF74030177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14D4303-1863-5B6F-63B2-29D10C9A5AA1}"/>
              </a:ext>
            </a:extLst>
          </p:cNvPr>
          <p:cNvSpPr>
            <a:spLocks noGrp="1"/>
          </p:cNvSpPr>
          <p:nvPr>
            <p:ph idx="1"/>
          </p:nvPr>
        </p:nvSpPr>
        <p:spPr/>
        <p:txBody>
          <a:bodyPr/>
          <a:lstStyle/>
          <a:p>
            <a:endParaRPr lang="en-IN"/>
          </a:p>
        </p:txBody>
      </p:sp>
      <p:pic>
        <p:nvPicPr>
          <p:cNvPr id="4" name="Picture 2" descr="Professional Thank You Slide &amp; Google Slides Theme">
            <a:extLst>
              <a:ext uri="{FF2B5EF4-FFF2-40B4-BE49-F238E27FC236}">
                <a16:creationId xmlns:a16="http://schemas.microsoft.com/office/drawing/2014/main" id="{69C24261-8718-D84D-D8C8-F726AFAB5B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122"/>
            <a:ext cx="12191999" cy="6880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17090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620</TotalTime>
  <Words>874</Words>
  <Application>Microsoft Office PowerPoint</Application>
  <PresentationFormat>Widescreen</PresentationFormat>
  <Paragraphs>157</Paragraphs>
  <Slides>43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Algerian</vt:lpstr>
      <vt:lpstr>Arial</vt:lpstr>
      <vt:lpstr>Calibri</vt:lpstr>
      <vt:lpstr>Gill Sans MT</vt:lpstr>
      <vt:lpstr>Times New Roman</vt:lpstr>
      <vt:lpstr>Parcel</vt:lpstr>
      <vt:lpstr>Intelligent Log Analytics &amp; Incident Prediction System</vt:lpstr>
      <vt:lpstr>Abstract / Project Overview</vt:lpstr>
      <vt:lpstr>Problem Statement</vt:lpstr>
      <vt:lpstr>Objectives</vt:lpstr>
      <vt:lpstr>System Architecture</vt:lpstr>
      <vt:lpstr>Technology Stack</vt:lpstr>
      <vt:lpstr>Data Description</vt:lpstr>
      <vt:lpstr>Data Description</vt:lpstr>
      <vt:lpstr>Hive analysis</vt:lpstr>
      <vt:lpstr>Data processing </vt:lpstr>
      <vt:lpstr>HDFS_FEATUREs.csv</vt:lpstr>
      <vt:lpstr>Comprehensive HQL analysis scripts for HIVE:</vt:lpstr>
      <vt:lpstr>1.Basic statistics and aggregations</vt:lpstr>
      <vt:lpstr>2. Component-wise Incident Rate Analysis</vt:lpstr>
      <vt:lpstr>3.Time Window Analysis</vt:lpstr>
      <vt:lpstr>4.Component-wise Feature Analysis</vt:lpstr>
      <vt:lpstr>5.High Risk Time Windows (where incidents occurred)</vt:lpstr>
      <vt:lpstr>6. Correlation Analysis (using window functions)</vt:lpstr>
      <vt:lpstr>7. Export final summary table for ML features</vt:lpstr>
      <vt:lpstr>PySPARk analysis</vt:lpstr>
      <vt:lpstr>Comprehensive EDA with visualizations</vt:lpstr>
      <vt:lpstr>PowerPoint Presentation</vt:lpstr>
      <vt:lpstr>PowerPoint Presentation</vt:lpstr>
      <vt:lpstr>PowerPoint Presentation</vt:lpstr>
      <vt:lpstr>PowerPoint Presentation</vt:lpstr>
      <vt:lpstr>PowerPoint Presentation</vt:lpstr>
      <vt:lpstr>EDA Report</vt:lpstr>
      <vt:lpstr>PySpark ML Model</vt:lpstr>
      <vt:lpstr>PowerPoint Presentation</vt:lpstr>
      <vt:lpstr>Train test split data</vt:lpstr>
      <vt:lpstr>ML MODELS</vt:lpstr>
      <vt:lpstr>ML MOdels</vt:lpstr>
      <vt:lpstr>Apache Airflow Pipeline</vt:lpstr>
      <vt:lpstr>PowerPoint Presentation</vt:lpstr>
      <vt:lpstr>PowerPoint Presentation</vt:lpstr>
      <vt:lpstr>Triggering `hdfs_incident_prediction_pipeline` DAG</vt:lpstr>
      <vt:lpstr>Airflow graph</vt:lpstr>
      <vt:lpstr>Results and Insights</vt:lpstr>
      <vt:lpstr>Classification report</vt:lpstr>
      <vt:lpstr>Evaluation Report</vt:lpstr>
      <vt:lpstr>Confusion matrix and prediction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Ishan Nayal</dc:creator>
  <cp:lastModifiedBy>Ishan Nayal</cp:lastModifiedBy>
  <cp:revision>34</cp:revision>
  <dcterms:created xsi:type="dcterms:W3CDTF">2026-01-23T05:27:00Z</dcterms:created>
  <dcterms:modified xsi:type="dcterms:W3CDTF">2026-01-29T07:14:39Z</dcterms:modified>
</cp:coreProperties>
</file>